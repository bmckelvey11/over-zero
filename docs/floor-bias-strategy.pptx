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explains one specific betting strategy. No math background needed. I'll build up the betting vocabulary first, then the idea, then the evidence, then the honest limitations.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after this slide is either explaining why this works, showing the evidence, or being honest about the risks.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point: the total is about combined points only. Who wins the game is irrelevant to this bet.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Spread + total is enough to back out each team's expected points. Underdog expected points = (total - spread) /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single most important slide for understanding the claim. 57% only sounds unimpressive until you know 52.4% is the bar.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Analogy: a store that can discount to $0 but never below. Average selling price ends up above what the pricing formula says.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right panel is why the strategy only fires on lopsided, low-scoring games — that's the only place the effect is large enough to matter.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failed under-test is evidence FOR the model. It made a falsifiable prediction about where the edge should NOT be, and that held.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12,493 games. Nobody told the data to do this — bin by predicted effect size, and the win rate lines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dot is one season's win rate; the vertical bars are uncertainty. Note 2016 below the line — that's the losing season, and it's expected.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orange line is the stricter filter — a third as many bets, nearly the same profit.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practice: ranked team vs overmatched opponent, service-academy games, weather-suppressed totals with big favorites.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Rule 3 is the one people break. The edge is about 4.5 points of win rate; bad juice can eat half of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someone leaves remembering only one slide besides the idea, it should be this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Distinguishing 'the market is wrong' from 'therefore I get paid' is the intellectually honest core of this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here. Don't oversell it — the honesty is the credibility.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3A2F"/>
        </a:solidFill>
      </p:bgPr>
    </p:bg>
    <p:spTree>
      <p:nvGrpSpPr>
        <p:cNvPr id="1" name=""/>
        <p:cNvGrpSpPr/>
        <p:nvPr/>
      </p:nvGrpSpPr>
      <p:grpSpPr>
        <a:xfrm>
          <a:off x="0" y="0"/>
          <a:ext cx="0" cy="0"/>
          <a:chOff x="0" y="0"/>
          <a:chExt cx="0" cy="0"/>
        </a:xfrm>
      </p:grpSpPr>
      <p:sp>
        <p:nvSpPr>
          <p:cNvPr id="2" name="Text 0"/>
          <p:cNvSpPr/>
          <p:nvPr/>
        </p:nvSpPr>
        <p:spPr>
          <a:xfrm>
            <a:off x="822960" y="1600200"/>
            <a:ext cx="10515600" cy="411480"/>
          </a:xfrm>
          <a:prstGeom prst="rect">
            <a:avLst/>
          </a:prstGeom>
          <a:noFill/>
          <a:ln/>
        </p:spPr>
        <p:txBody>
          <a:bodyPr wrap="square" lIns="0" tIns="0" rIns="0" bIns="0" rtlCol="0" anchor="ctr"/>
          <a:lstStyle/>
          <a:p>
            <a:pPr indent="0" marL="0">
              <a:buNone/>
            </a:pPr>
            <a:r>
              <a:rPr lang="en-US" sz="1500" b="1" spc="400" kern="0" dirty="0">
                <a:solidFill>
                  <a:srgbClr val="D4A537"/>
                </a:solidFill>
                <a:latin typeface="Calibri" pitchFamily="34" charset="0"/>
                <a:ea typeface="Calibri" pitchFamily="34" charset="-122"/>
                <a:cs typeface="Calibri" pitchFamily="34" charset="-120"/>
              </a:rPr>
              <a:t>BETTING THE OVER</a:t>
            </a:r>
            <a:endParaRPr lang="en-US" sz="1500" dirty="0"/>
          </a:p>
        </p:txBody>
      </p:sp>
      <p:sp>
        <p:nvSpPr>
          <p:cNvPr id="3" name="Text 1"/>
          <p:cNvSpPr/>
          <p:nvPr/>
        </p:nvSpPr>
        <p:spPr>
          <a:xfrm>
            <a:off x="822960" y="2103120"/>
            <a:ext cx="10515600" cy="1051560"/>
          </a:xfrm>
          <a:prstGeom prst="rect">
            <a:avLst/>
          </a:prstGeom>
          <a:noFill/>
          <a:ln/>
        </p:spPr>
        <p:txBody>
          <a:bodyPr wrap="square" lIns="0" tIns="0" rIns="0" bIns="0" rtlCol="0" anchor="ctr"/>
          <a:lstStyle/>
          <a:p>
            <a:pPr indent="0" marL="0">
              <a:buNone/>
            </a:pPr>
            <a:r>
              <a:rPr lang="en-US" sz="5200" b="1" dirty="0">
                <a:solidFill>
                  <a:srgbClr val="FFFFFF"/>
                </a:solidFill>
                <a:latin typeface="Bookman Old Style" pitchFamily="34" charset="0"/>
                <a:ea typeface="Bookman Old Style" pitchFamily="34" charset="-122"/>
                <a:cs typeface="Bookman Old Style" pitchFamily="34" charset="-120"/>
              </a:rPr>
              <a:t>A scoreboard has a floor</a:t>
            </a:r>
            <a:endParaRPr lang="en-US" sz="5200" dirty="0"/>
          </a:p>
        </p:txBody>
      </p:sp>
      <p:sp>
        <p:nvSpPr>
          <p:cNvPr id="4" name="Text 2"/>
          <p:cNvSpPr/>
          <p:nvPr/>
        </p:nvSpPr>
        <p:spPr>
          <a:xfrm>
            <a:off x="822960" y="3200400"/>
            <a:ext cx="8778240" cy="868680"/>
          </a:xfrm>
          <a:prstGeom prst="rect">
            <a:avLst/>
          </a:prstGeom>
          <a:noFill/>
          <a:ln/>
        </p:spPr>
        <p:txBody>
          <a:bodyPr wrap="square" lIns="0" tIns="0" rIns="0" bIns="0" rtlCol="0" anchor="ctr"/>
          <a:lstStyle/>
          <a:p>
            <a:pPr indent="0" marL="0">
              <a:lnSpc>
                <a:spcPts val="2600"/>
              </a:lnSpc>
              <a:buNone/>
            </a:pPr>
            <a:r>
              <a:rPr lang="en-US" sz="1700" dirty="0">
                <a:solidFill>
                  <a:srgbClr val="C9D8CF"/>
                </a:solidFill>
                <a:latin typeface="Calibri" pitchFamily="34" charset="0"/>
                <a:ea typeface="Calibri" pitchFamily="34" charset="-122"/>
                <a:cs typeface="Calibri" pitchFamily="34" charset="-120"/>
              </a:rPr>
              <a:t>A small, repeatable pricing mistake in college football betting lines —</a:t>
            </a:r>
            <a:endParaRPr lang="en-US" sz="1700" dirty="0"/>
          </a:p>
          <a:p>
            <a:pPr indent="0" marL="0">
              <a:lnSpc>
                <a:spcPts val="2600"/>
              </a:lnSpc>
              <a:buNone/>
            </a:pPr>
            <a:r>
              <a:rPr lang="en-US" sz="1700" dirty="0">
                <a:solidFill>
                  <a:srgbClr val="C9D8CF"/>
                </a:solidFill>
                <a:latin typeface="Calibri" pitchFamily="34" charset="0"/>
                <a:ea typeface="Calibri" pitchFamily="34" charset="-122"/>
                <a:cs typeface="Calibri" pitchFamily="34" charset="-120"/>
              </a:rPr>
              <a:t>and what it takes to actually profit from it.</a:t>
            </a:r>
            <a:endParaRPr lang="en-US" sz="1700" dirty="0"/>
          </a:p>
        </p:txBody>
      </p:sp>
      <p:sp>
        <p:nvSpPr>
          <p:cNvPr id="5" name="Shape 3"/>
          <p:cNvSpPr/>
          <p:nvPr/>
        </p:nvSpPr>
        <p:spPr>
          <a:xfrm>
            <a:off x="841248" y="4315968"/>
            <a:ext cx="2011680" cy="0"/>
          </a:xfrm>
          <a:prstGeom prst="line">
            <a:avLst/>
          </a:prstGeom>
          <a:noFill/>
          <a:ln w="25400">
            <a:solidFill>
              <a:srgbClr val="D4A537"/>
            </a:solidFill>
            <a:prstDash val="solid"/>
          </a:ln>
        </p:spPr>
      </p:sp>
      <p:sp>
        <p:nvSpPr>
          <p:cNvPr id="6" name="Text 4"/>
          <p:cNvSpPr/>
          <p:nvPr/>
        </p:nvSpPr>
        <p:spPr>
          <a:xfrm>
            <a:off x="822960" y="4526280"/>
            <a:ext cx="10515600" cy="320040"/>
          </a:xfrm>
          <a:prstGeom prst="rect">
            <a:avLst/>
          </a:prstGeom>
          <a:noFill/>
          <a:ln/>
        </p:spPr>
        <p:txBody>
          <a:bodyPr wrap="square" lIns="0" tIns="0" rIns="0" bIns="0" rtlCol="0" anchor="ctr"/>
          <a:lstStyle/>
          <a:p>
            <a:pPr indent="0" marL="0">
              <a:buNone/>
            </a:pPr>
            <a:r>
              <a:rPr lang="en-US" sz="1300" dirty="0">
                <a:solidFill>
                  <a:srgbClr val="8FA89A"/>
                </a:solidFill>
                <a:latin typeface="Calibri" pitchFamily="34" charset="0"/>
                <a:ea typeface="Calibri" pitchFamily="34" charset="-122"/>
                <a:cs typeface="Calibri" pitchFamily="34" charset="-120"/>
              </a:rPr>
              <a:t>Based on 12,493 real games, 2013–2025</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B3A2F"/>
        </a:solidFill>
      </p:bgPr>
    </p:bg>
    <p:spTree>
      <p:nvGrpSpPr>
        <p:cNvPr id="1" name=""/>
        <p:cNvGrpSpPr/>
        <p:nvPr/>
      </p:nvGrpSpPr>
      <p:grpSpPr>
        <a:xfrm>
          <a:off x="0" y="0"/>
          <a:ext cx="0" cy="0"/>
          <a:chOff x="0" y="0"/>
          <a:chExt cx="0" cy="0"/>
        </a:xfrm>
      </p:grpSpPr>
      <p:sp>
        <p:nvSpPr>
          <p:cNvPr id="2" name="Text 0"/>
          <p:cNvSpPr/>
          <p:nvPr/>
        </p:nvSpPr>
        <p:spPr>
          <a:xfrm>
            <a:off x="640080" y="548640"/>
            <a:ext cx="10881360" cy="548640"/>
          </a:xfrm>
          <a:prstGeom prst="rect">
            <a:avLst/>
          </a:prstGeom>
          <a:noFill/>
          <a:ln/>
        </p:spPr>
        <p:txBody>
          <a:bodyPr wrap="square" lIns="0" tIns="0" rIns="0" bIns="0" rtlCol="0" anchor="ctr"/>
          <a:lstStyle/>
          <a:p>
            <a:pPr indent="0" marL="0">
              <a:buNone/>
            </a:pPr>
            <a:r>
              <a:rPr lang="en-US" sz="1500" b="1" spc="200" kern="0" dirty="0">
                <a:solidFill>
                  <a:srgbClr val="D4A537"/>
                </a:solidFill>
                <a:latin typeface="Calibri" pitchFamily="34" charset="0"/>
                <a:ea typeface="Calibri" pitchFamily="34" charset="-122"/>
                <a:cs typeface="Calibri" pitchFamily="34" charset="-120"/>
              </a:rPr>
              <a:t>The whole strategy, in one sentence</a:t>
            </a:r>
            <a:endParaRPr lang="en-US" sz="1500" dirty="0"/>
          </a:p>
        </p:txBody>
      </p:sp>
      <p:sp>
        <p:nvSpPr>
          <p:cNvPr id="3" name="Shape 1"/>
          <p:cNvSpPr/>
          <p:nvPr/>
        </p:nvSpPr>
        <p:spPr>
          <a:xfrm>
            <a:off x="640080" y="1371600"/>
            <a:ext cx="10881360" cy="2286000"/>
          </a:xfrm>
          <a:prstGeom prst="roundRect">
            <a:avLst>
              <a:gd name="adj" fmla="val 4800"/>
            </a:avLst>
          </a:prstGeom>
          <a:solidFill>
            <a:srgbClr val="FFFFFF"/>
          </a:solidFill>
          <a:ln w="12700">
            <a:solidFill>
              <a:srgbClr val="FFFFFF"/>
            </a:solidFill>
            <a:prstDash val="solid"/>
          </a:ln>
          <a:effectLst>
            <a:outerShdw sx="100000" sy="100000" kx="0" ky="0" algn="bl" rotWithShape="0" blurRad="177800" dist="38100" dir="5400000">
              <a:srgbClr val="000000">
                <a:alpha val="25000"/>
              </a:srgbClr>
            </a:outerShdw>
          </a:effectLst>
        </p:spPr>
      </p:sp>
      <p:sp>
        <p:nvSpPr>
          <p:cNvPr id="4" name="Text 2"/>
          <p:cNvSpPr/>
          <p:nvPr/>
        </p:nvSpPr>
        <p:spPr>
          <a:xfrm>
            <a:off x="1051560" y="1691640"/>
            <a:ext cx="10058400" cy="1645920"/>
          </a:xfrm>
          <a:prstGeom prst="rect">
            <a:avLst/>
          </a:prstGeom>
          <a:noFill/>
          <a:ln/>
        </p:spPr>
        <p:txBody>
          <a:bodyPr wrap="square" lIns="0" tIns="0" rIns="0" bIns="0" rtlCol="0" anchor="ctr"/>
          <a:lstStyle/>
          <a:p>
            <a:pPr indent="0" marL="0">
              <a:lnSpc>
                <a:spcPts val="4200"/>
              </a:lnSpc>
              <a:buNone/>
            </a:pPr>
            <a:r>
              <a:rPr lang="en-US" sz="2900" dirty="0">
                <a:solidFill>
                  <a:srgbClr val="1A1A18"/>
                </a:solidFill>
                <a:latin typeface="Bookman Old Style" pitchFamily="34" charset="0"/>
                <a:ea typeface="Bookman Old Style" pitchFamily="34" charset="-122"/>
                <a:cs typeface="Bookman Old Style" pitchFamily="34" charset="-120"/>
              </a:rPr>
              <a:t>In lopsided games with low scoring expectations, bet that the two teams will </a:t>
            </a:r>
            <a:pPr indent="0" marL="0">
              <a:lnSpc>
                <a:spcPts val="4200"/>
              </a:lnSpc>
              <a:buNone/>
            </a:pPr>
            <a:r>
              <a:rPr lang="en-US" sz="2900" b="1" dirty="0">
                <a:solidFill>
                  <a:srgbClr val="2C5F4A"/>
                </a:solidFill>
                <a:latin typeface="Bookman Old Style" pitchFamily="34" charset="0"/>
                <a:ea typeface="Bookman Old Style" pitchFamily="34" charset="-122"/>
                <a:cs typeface="Bookman Old Style" pitchFamily="34" charset="-120"/>
              </a:rPr>
              <a:t>combine for MORE points</a:t>
            </a:r>
            <a:pPr indent="0" marL="0">
              <a:lnSpc>
                <a:spcPts val="4200"/>
              </a:lnSpc>
              <a:buNone/>
            </a:pPr>
            <a:r>
              <a:rPr lang="en-US" sz="2900" dirty="0">
                <a:solidFill>
                  <a:srgbClr val="1A1A18"/>
                </a:solidFill>
                <a:latin typeface="Bookman Old Style" pitchFamily="34" charset="0"/>
                <a:ea typeface="Bookman Old Style" pitchFamily="34" charset="-122"/>
                <a:cs typeface="Bookman Old Style" pitchFamily="34" charset="-120"/>
              </a:rPr>
              <a:t> than the sportsbook predicts.</a:t>
            </a:r>
            <a:endParaRPr lang="en-US" sz="2900" dirty="0"/>
          </a:p>
        </p:txBody>
      </p:sp>
      <p:sp>
        <p:nvSpPr>
          <p:cNvPr id="5" name="Text 3"/>
          <p:cNvSpPr/>
          <p:nvPr/>
        </p:nvSpPr>
        <p:spPr>
          <a:xfrm>
            <a:off x="640080" y="4069080"/>
            <a:ext cx="3383280" cy="777240"/>
          </a:xfrm>
          <a:prstGeom prst="rect">
            <a:avLst/>
          </a:prstGeom>
          <a:noFill/>
          <a:ln/>
        </p:spPr>
        <p:txBody>
          <a:bodyPr wrap="square" lIns="0" tIns="0" rIns="0" bIns="0" rtlCol="0" anchor="ctr"/>
          <a:lstStyle/>
          <a:p>
            <a:pPr indent="0" marL="0">
              <a:buNone/>
            </a:pPr>
            <a:r>
              <a:rPr lang="en-US" sz="4600" b="1" dirty="0">
                <a:solidFill>
                  <a:srgbClr val="D4A537"/>
                </a:solidFill>
                <a:latin typeface="Bookman Old Style" pitchFamily="34" charset="0"/>
                <a:ea typeface="Bookman Old Style" pitchFamily="34" charset="-122"/>
                <a:cs typeface="Bookman Old Style" pitchFamily="34" charset="-120"/>
              </a:rPr>
              <a:t>57%</a:t>
            </a:r>
            <a:endParaRPr lang="en-US" sz="4600" dirty="0"/>
          </a:p>
        </p:txBody>
      </p:sp>
      <p:sp>
        <p:nvSpPr>
          <p:cNvPr id="6" name="Text 4"/>
          <p:cNvSpPr/>
          <p:nvPr/>
        </p:nvSpPr>
        <p:spPr>
          <a:xfrm>
            <a:off x="640080" y="4846320"/>
            <a:ext cx="3383280" cy="27432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of these bets won</a:t>
            </a:r>
            <a:endParaRPr lang="en-US" sz="1500" dirty="0"/>
          </a:p>
        </p:txBody>
      </p:sp>
      <p:sp>
        <p:nvSpPr>
          <p:cNvPr id="7" name="Text 5"/>
          <p:cNvSpPr/>
          <p:nvPr/>
        </p:nvSpPr>
        <p:spPr>
          <a:xfrm>
            <a:off x="640080" y="5138928"/>
            <a:ext cx="3383280" cy="274320"/>
          </a:xfrm>
          <a:prstGeom prst="rect">
            <a:avLst/>
          </a:prstGeom>
          <a:noFill/>
          <a:ln/>
        </p:spPr>
        <p:txBody>
          <a:bodyPr wrap="square" lIns="0" tIns="0" rIns="0" bIns="0" rtlCol="0" anchor="ctr"/>
          <a:lstStyle/>
          <a:p>
            <a:pPr indent="0" marL="0">
              <a:buNone/>
            </a:pPr>
            <a:r>
              <a:rPr lang="en-US" sz="1200" dirty="0">
                <a:solidFill>
                  <a:srgbClr val="8FA89A"/>
                </a:solidFill>
                <a:latin typeface="Calibri" pitchFamily="34" charset="0"/>
                <a:ea typeface="Calibri" pitchFamily="34" charset="-122"/>
                <a:cs typeface="Calibri" pitchFamily="34" charset="-120"/>
              </a:rPr>
              <a:t>vs. the 52.4% you need</a:t>
            </a:r>
            <a:endParaRPr lang="en-US" sz="1200" dirty="0"/>
          </a:p>
        </p:txBody>
      </p:sp>
      <p:sp>
        <p:nvSpPr>
          <p:cNvPr id="8" name="Text 6"/>
          <p:cNvSpPr/>
          <p:nvPr/>
        </p:nvSpPr>
        <p:spPr>
          <a:xfrm>
            <a:off x="4361688" y="4069080"/>
            <a:ext cx="3383280" cy="777240"/>
          </a:xfrm>
          <a:prstGeom prst="rect">
            <a:avLst/>
          </a:prstGeom>
          <a:noFill/>
          <a:ln/>
        </p:spPr>
        <p:txBody>
          <a:bodyPr wrap="square" lIns="0" tIns="0" rIns="0" bIns="0" rtlCol="0" anchor="ctr"/>
          <a:lstStyle/>
          <a:p>
            <a:pPr indent="0" marL="0">
              <a:buNone/>
            </a:pPr>
            <a:r>
              <a:rPr lang="en-US" sz="4600" b="1" dirty="0">
                <a:solidFill>
                  <a:srgbClr val="D4A537"/>
                </a:solidFill>
                <a:latin typeface="Bookman Old Style" pitchFamily="34" charset="0"/>
                <a:ea typeface="Bookman Old Style" pitchFamily="34" charset="-122"/>
                <a:cs typeface="Bookman Old Style" pitchFamily="34" charset="-120"/>
              </a:rPr>
              <a:t>~80</a:t>
            </a:r>
            <a:endParaRPr lang="en-US" sz="4600" dirty="0"/>
          </a:p>
        </p:txBody>
      </p:sp>
      <p:sp>
        <p:nvSpPr>
          <p:cNvPr id="9" name="Text 7"/>
          <p:cNvSpPr/>
          <p:nvPr/>
        </p:nvSpPr>
        <p:spPr>
          <a:xfrm>
            <a:off x="4361688" y="4846320"/>
            <a:ext cx="3383280" cy="27432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bets per season</a:t>
            </a:r>
            <a:endParaRPr lang="en-US" sz="1500" dirty="0"/>
          </a:p>
        </p:txBody>
      </p:sp>
      <p:sp>
        <p:nvSpPr>
          <p:cNvPr id="10" name="Text 8"/>
          <p:cNvSpPr/>
          <p:nvPr/>
        </p:nvSpPr>
        <p:spPr>
          <a:xfrm>
            <a:off x="4361688" y="5138928"/>
            <a:ext cx="3383280" cy="274320"/>
          </a:xfrm>
          <a:prstGeom prst="rect">
            <a:avLst/>
          </a:prstGeom>
          <a:noFill/>
          <a:ln/>
        </p:spPr>
        <p:txBody>
          <a:bodyPr wrap="square" lIns="0" tIns="0" rIns="0" bIns="0" rtlCol="0" anchor="ctr"/>
          <a:lstStyle/>
          <a:p>
            <a:pPr indent="0" marL="0">
              <a:buNone/>
            </a:pPr>
            <a:r>
              <a:rPr lang="en-US" sz="1200" dirty="0">
                <a:solidFill>
                  <a:srgbClr val="8FA89A"/>
                </a:solidFill>
                <a:latin typeface="Calibri" pitchFamily="34" charset="0"/>
                <a:ea typeface="Calibri" pitchFamily="34" charset="-122"/>
                <a:cs typeface="Calibri" pitchFamily="34" charset="-120"/>
              </a:rPr>
              <a:t>about 5% of all games</a:t>
            </a:r>
            <a:endParaRPr lang="en-US" sz="1200" dirty="0"/>
          </a:p>
        </p:txBody>
      </p:sp>
      <p:sp>
        <p:nvSpPr>
          <p:cNvPr id="11" name="Text 9"/>
          <p:cNvSpPr/>
          <p:nvPr/>
        </p:nvSpPr>
        <p:spPr>
          <a:xfrm>
            <a:off x="8083296" y="4069080"/>
            <a:ext cx="3383280" cy="777240"/>
          </a:xfrm>
          <a:prstGeom prst="rect">
            <a:avLst/>
          </a:prstGeom>
          <a:noFill/>
          <a:ln/>
        </p:spPr>
        <p:txBody>
          <a:bodyPr wrap="square" lIns="0" tIns="0" rIns="0" bIns="0" rtlCol="0" anchor="ctr"/>
          <a:lstStyle/>
          <a:p>
            <a:pPr indent="0" marL="0">
              <a:buNone/>
            </a:pPr>
            <a:r>
              <a:rPr lang="en-US" sz="4600" b="1" dirty="0">
                <a:solidFill>
                  <a:srgbClr val="D4A537"/>
                </a:solidFill>
                <a:latin typeface="Bookman Old Style" pitchFamily="34" charset="0"/>
                <a:ea typeface="Bookman Old Style" pitchFamily="34" charset="-122"/>
                <a:cs typeface="Bookman Old Style" pitchFamily="34" charset="-120"/>
              </a:rPr>
              <a:t>10 yrs</a:t>
            </a:r>
            <a:endParaRPr lang="en-US" sz="4600" dirty="0"/>
          </a:p>
        </p:txBody>
      </p:sp>
      <p:sp>
        <p:nvSpPr>
          <p:cNvPr id="12" name="Text 10"/>
          <p:cNvSpPr/>
          <p:nvPr/>
        </p:nvSpPr>
        <p:spPr>
          <a:xfrm>
            <a:off x="8083296" y="4846320"/>
            <a:ext cx="3383280" cy="27432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of testing</a:t>
            </a:r>
            <a:endParaRPr lang="en-US" sz="1500" dirty="0"/>
          </a:p>
        </p:txBody>
      </p:sp>
      <p:sp>
        <p:nvSpPr>
          <p:cNvPr id="13" name="Text 11"/>
          <p:cNvSpPr/>
          <p:nvPr/>
        </p:nvSpPr>
        <p:spPr>
          <a:xfrm>
            <a:off x="8083296" y="5138928"/>
            <a:ext cx="3383280" cy="274320"/>
          </a:xfrm>
          <a:prstGeom prst="rect">
            <a:avLst/>
          </a:prstGeom>
          <a:noFill/>
          <a:ln/>
        </p:spPr>
        <p:txBody>
          <a:bodyPr wrap="square" lIns="0" tIns="0" rIns="0" bIns="0" rtlCol="0" anchor="ctr"/>
          <a:lstStyle/>
          <a:p>
            <a:pPr indent="0" marL="0">
              <a:buNone/>
            </a:pPr>
            <a:r>
              <a:rPr lang="en-US" sz="1200" dirty="0">
                <a:solidFill>
                  <a:srgbClr val="8FA89A"/>
                </a:solidFill>
                <a:latin typeface="Calibri" pitchFamily="34" charset="0"/>
                <a:ea typeface="Calibri" pitchFamily="34" charset="-122"/>
                <a:cs typeface="Calibri" pitchFamily="34" charset="-120"/>
              </a:rPr>
              <a:t>9 of 10 seasons profitable</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640080" y="457200"/>
            <a:ext cx="10881360" cy="274320"/>
          </a:xfrm>
          <a:prstGeom prst="rect">
            <a:avLst/>
          </a:prstGeom>
          <a:noFill/>
          <a:ln/>
        </p:spPr>
        <p:txBody>
          <a:bodyPr wrap="square" lIns="0" tIns="0" rIns="0" bIns="0" rtlCol="0" anchor="ctr"/>
          <a:lstStyle/>
          <a:p>
            <a:pPr indent="0" marL="0">
              <a:buNone/>
            </a:pPr>
            <a:r>
              <a:rPr lang="en-US" sz="1200" b="1" spc="200" kern="0" dirty="0">
                <a:solidFill>
                  <a:srgbClr val="2C5F4A"/>
                </a:solidFill>
                <a:latin typeface="Calibri" pitchFamily="34" charset="0"/>
                <a:ea typeface="Calibri" pitchFamily="34" charset="-122"/>
                <a:cs typeface="Calibri" pitchFamily="34" charset="-120"/>
              </a:rPr>
              <a:t>BETTING BASICS — 1 OF 3</a:t>
            </a:r>
            <a:endParaRPr lang="en-US" sz="1200" dirty="0"/>
          </a:p>
        </p:txBody>
      </p:sp>
      <p:sp>
        <p:nvSpPr>
          <p:cNvPr id="3" name="Text 1"/>
          <p:cNvSpPr/>
          <p:nvPr/>
        </p:nvSpPr>
        <p:spPr>
          <a:xfrm>
            <a:off x="640080" y="768096"/>
            <a:ext cx="10881360" cy="731520"/>
          </a:xfrm>
          <a:prstGeom prst="rect">
            <a:avLst/>
          </a:prstGeom>
          <a:noFill/>
          <a:ln/>
        </p:spPr>
        <p:txBody>
          <a:bodyPr wrap="square" lIns="0" tIns="0" rIns="0" bIns="0" rtlCol="0" anchor="ctr"/>
          <a:lstStyle/>
          <a:p>
            <a:pPr indent="0" marL="0">
              <a:buNone/>
            </a:pPr>
            <a:r>
              <a:rPr lang="en-US" sz="3400" b="1" dirty="0">
                <a:solidFill>
                  <a:srgbClr val="1B3A2F"/>
                </a:solidFill>
                <a:latin typeface="Bookman Old Style" pitchFamily="34" charset="0"/>
                <a:ea typeface="Bookman Old Style" pitchFamily="34" charset="-122"/>
                <a:cs typeface="Bookman Old Style" pitchFamily="34" charset="-120"/>
              </a:rPr>
              <a:t>First: what is a “total”?</a:t>
            </a:r>
            <a:endParaRPr lang="en-US" sz="3400" dirty="0"/>
          </a:p>
        </p:txBody>
      </p:sp>
      <p:sp>
        <p:nvSpPr>
          <p:cNvPr id="4" name="Text 2"/>
          <p:cNvSpPr/>
          <p:nvPr/>
        </p:nvSpPr>
        <p:spPr>
          <a:xfrm>
            <a:off x="640080" y="1600200"/>
            <a:ext cx="5943600" cy="822960"/>
          </a:xfrm>
          <a:prstGeom prst="rect">
            <a:avLst/>
          </a:prstGeom>
          <a:noFill/>
          <a:ln/>
        </p:spPr>
        <p:txBody>
          <a:bodyPr wrap="square" lIns="0" tIns="0" rIns="0" bIns="0" rtlCol="0" anchor="ctr"/>
          <a:lstStyle/>
          <a:p>
            <a:pPr indent="0" marL="0">
              <a:lnSpc>
                <a:spcPts val="2500"/>
              </a:lnSpc>
              <a:buNone/>
            </a:pPr>
            <a:r>
              <a:rPr lang="en-US" sz="1600" dirty="0">
                <a:solidFill>
                  <a:srgbClr val="1A1A18"/>
                </a:solidFill>
                <a:latin typeface="Calibri" pitchFamily="34" charset="0"/>
                <a:ea typeface="Calibri" pitchFamily="34" charset="-122"/>
                <a:cs typeface="Calibri" pitchFamily="34" charset="-120"/>
              </a:rPr>
              <a:t>Before a game, the sportsbook publishes a number: how many points it expects both teams to score, added together.</a:t>
            </a:r>
            <a:endParaRPr lang="en-US" sz="1600" dirty="0"/>
          </a:p>
        </p:txBody>
      </p:sp>
      <p:sp>
        <p:nvSpPr>
          <p:cNvPr id="5" name="Text 3"/>
          <p:cNvSpPr/>
          <p:nvPr/>
        </p:nvSpPr>
        <p:spPr>
          <a:xfrm>
            <a:off x="640080" y="2487168"/>
            <a:ext cx="5943600" cy="320040"/>
          </a:xfrm>
          <a:prstGeom prst="rect">
            <a:avLst/>
          </a:prstGeom>
          <a:noFill/>
          <a:ln/>
        </p:spPr>
        <p:txBody>
          <a:bodyPr wrap="square" lIns="0" tIns="0" rIns="0" bIns="0" rtlCol="0" anchor="ctr"/>
          <a:lstStyle/>
          <a:p>
            <a:pPr indent="0" marL="0">
              <a:buNone/>
            </a:pPr>
            <a:r>
              <a:rPr lang="en-US" sz="1600" dirty="0">
                <a:solidFill>
                  <a:srgbClr val="1A1A18"/>
                </a:solidFill>
                <a:latin typeface="Calibri" pitchFamily="34" charset="0"/>
                <a:ea typeface="Calibri" pitchFamily="34" charset="-122"/>
                <a:cs typeface="Calibri" pitchFamily="34" charset="-120"/>
              </a:rPr>
              <a:t>You bet on which side of that number reality lands:</a:t>
            </a:r>
            <a:endParaRPr lang="en-US" sz="1600" dirty="0"/>
          </a:p>
        </p:txBody>
      </p:sp>
      <p:sp>
        <p:nvSpPr>
          <p:cNvPr id="6" name="Shape 4"/>
          <p:cNvSpPr/>
          <p:nvPr/>
        </p:nvSpPr>
        <p:spPr>
          <a:xfrm>
            <a:off x="640080" y="2999232"/>
            <a:ext cx="5943600" cy="694944"/>
          </a:xfrm>
          <a:prstGeom prst="roundRect">
            <a:avLst>
              <a:gd name="adj" fmla="val 10526"/>
            </a:avLst>
          </a:prstGeom>
          <a:solidFill>
            <a:srgbClr val="FFFFFF"/>
          </a:solidFill>
          <a:ln w="12700">
            <a:solidFill>
              <a:srgbClr val="E2DFD5"/>
            </a:solidFill>
            <a:prstDash val="solid"/>
          </a:ln>
        </p:spPr>
      </p:sp>
      <p:sp>
        <p:nvSpPr>
          <p:cNvPr id="7" name="Text 5"/>
          <p:cNvSpPr/>
          <p:nvPr/>
        </p:nvSpPr>
        <p:spPr>
          <a:xfrm>
            <a:off x="868680" y="2999232"/>
            <a:ext cx="1188720" cy="694944"/>
          </a:xfrm>
          <a:prstGeom prst="rect">
            <a:avLst/>
          </a:prstGeom>
          <a:noFill/>
          <a:ln/>
        </p:spPr>
        <p:txBody>
          <a:bodyPr wrap="square" lIns="0" tIns="0" rIns="0" bIns="0" rtlCol="0" anchor="ctr"/>
          <a:lstStyle/>
          <a:p>
            <a:pPr indent="0" marL="0">
              <a:buNone/>
            </a:pPr>
            <a:r>
              <a:rPr lang="en-US" sz="1900" b="1" dirty="0">
                <a:solidFill>
                  <a:srgbClr val="2C5F4A"/>
                </a:solidFill>
                <a:latin typeface="Bookman Old Style" pitchFamily="34" charset="0"/>
                <a:ea typeface="Bookman Old Style" pitchFamily="34" charset="-122"/>
                <a:cs typeface="Bookman Old Style" pitchFamily="34" charset="-120"/>
              </a:rPr>
              <a:t>OVER</a:t>
            </a:r>
            <a:endParaRPr lang="en-US" sz="1900" dirty="0"/>
          </a:p>
        </p:txBody>
      </p:sp>
      <p:sp>
        <p:nvSpPr>
          <p:cNvPr id="8" name="Text 6"/>
          <p:cNvSpPr/>
          <p:nvPr/>
        </p:nvSpPr>
        <p:spPr>
          <a:xfrm>
            <a:off x="2103120" y="2999232"/>
            <a:ext cx="4297680" cy="694944"/>
          </a:xfrm>
          <a:prstGeom prst="rect">
            <a:avLst/>
          </a:prstGeom>
          <a:noFill/>
          <a:ln/>
        </p:spPr>
        <p:txBody>
          <a:bodyPr wrap="square" lIns="0" tIns="0" rIns="0" bIns="0" rtlCol="0" anchor="ctr"/>
          <a:lstStyle/>
          <a:p>
            <a:pPr indent="0" marL="0">
              <a:buNone/>
            </a:pPr>
            <a:r>
              <a:rPr lang="en-US" sz="1350" dirty="0">
                <a:solidFill>
                  <a:srgbClr val="1A1A18"/>
                </a:solidFill>
                <a:latin typeface="Calibri" pitchFamily="34" charset="0"/>
                <a:ea typeface="Calibri" pitchFamily="34" charset="-122"/>
                <a:cs typeface="Calibri" pitchFamily="34" charset="-120"/>
              </a:rPr>
              <a:t>Combined score is HIGHER than the number</a:t>
            </a:r>
            <a:endParaRPr lang="en-US" sz="1350" dirty="0"/>
          </a:p>
        </p:txBody>
      </p:sp>
      <p:sp>
        <p:nvSpPr>
          <p:cNvPr id="9" name="Shape 7"/>
          <p:cNvSpPr/>
          <p:nvPr/>
        </p:nvSpPr>
        <p:spPr>
          <a:xfrm>
            <a:off x="640080" y="3840480"/>
            <a:ext cx="5943600" cy="694944"/>
          </a:xfrm>
          <a:prstGeom prst="roundRect">
            <a:avLst>
              <a:gd name="adj" fmla="val 10526"/>
            </a:avLst>
          </a:prstGeom>
          <a:solidFill>
            <a:srgbClr val="FFFFFF"/>
          </a:solidFill>
          <a:ln w="12700">
            <a:solidFill>
              <a:srgbClr val="E2DFD5"/>
            </a:solidFill>
            <a:prstDash val="solid"/>
          </a:ln>
        </p:spPr>
      </p:sp>
      <p:sp>
        <p:nvSpPr>
          <p:cNvPr id="10" name="Text 8"/>
          <p:cNvSpPr/>
          <p:nvPr/>
        </p:nvSpPr>
        <p:spPr>
          <a:xfrm>
            <a:off x="868680" y="3840480"/>
            <a:ext cx="1188720" cy="694944"/>
          </a:xfrm>
          <a:prstGeom prst="rect">
            <a:avLst/>
          </a:prstGeom>
          <a:noFill/>
          <a:ln/>
        </p:spPr>
        <p:txBody>
          <a:bodyPr wrap="square" lIns="0" tIns="0" rIns="0" bIns="0" rtlCol="0" anchor="ctr"/>
          <a:lstStyle/>
          <a:p>
            <a:pPr indent="0" marL="0">
              <a:buNone/>
            </a:pPr>
            <a:r>
              <a:rPr lang="en-US" sz="1900" b="1" dirty="0">
                <a:solidFill>
                  <a:srgbClr val="6B6B63"/>
                </a:solidFill>
                <a:latin typeface="Bookman Old Style" pitchFamily="34" charset="0"/>
                <a:ea typeface="Bookman Old Style" pitchFamily="34" charset="-122"/>
                <a:cs typeface="Bookman Old Style" pitchFamily="34" charset="-120"/>
              </a:rPr>
              <a:t>UNDER</a:t>
            </a:r>
            <a:endParaRPr lang="en-US" sz="1900" dirty="0"/>
          </a:p>
        </p:txBody>
      </p:sp>
      <p:sp>
        <p:nvSpPr>
          <p:cNvPr id="11" name="Text 9"/>
          <p:cNvSpPr/>
          <p:nvPr/>
        </p:nvSpPr>
        <p:spPr>
          <a:xfrm>
            <a:off x="2103120" y="3840480"/>
            <a:ext cx="4297680" cy="694944"/>
          </a:xfrm>
          <a:prstGeom prst="rect">
            <a:avLst/>
          </a:prstGeom>
          <a:noFill/>
          <a:ln/>
        </p:spPr>
        <p:txBody>
          <a:bodyPr wrap="square" lIns="0" tIns="0" rIns="0" bIns="0" rtlCol="0" anchor="ctr"/>
          <a:lstStyle/>
          <a:p>
            <a:pPr indent="0" marL="0">
              <a:buNone/>
            </a:pPr>
            <a:r>
              <a:rPr lang="en-US" sz="1350" dirty="0">
                <a:solidFill>
                  <a:srgbClr val="1A1A18"/>
                </a:solidFill>
                <a:latin typeface="Calibri" pitchFamily="34" charset="0"/>
                <a:ea typeface="Calibri" pitchFamily="34" charset="-122"/>
                <a:cs typeface="Calibri" pitchFamily="34" charset="-120"/>
              </a:rPr>
              <a:t>Combined score is LOWER than the number</a:t>
            </a:r>
            <a:endParaRPr lang="en-US" sz="1350" dirty="0"/>
          </a:p>
        </p:txBody>
      </p:sp>
      <p:sp>
        <p:nvSpPr>
          <p:cNvPr id="12" name="Text 10"/>
          <p:cNvSpPr/>
          <p:nvPr/>
        </p:nvSpPr>
        <p:spPr>
          <a:xfrm>
            <a:off x="640080" y="4892040"/>
            <a:ext cx="5943600" cy="365760"/>
          </a:xfrm>
          <a:prstGeom prst="rect">
            <a:avLst/>
          </a:prstGeom>
          <a:noFill/>
          <a:ln/>
        </p:spPr>
        <p:txBody>
          <a:bodyPr wrap="square" lIns="0" tIns="0" rIns="0" bIns="0" rtlCol="0" anchor="ctr"/>
          <a:lstStyle/>
          <a:p>
            <a:pPr indent="0" marL="0">
              <a:buNone/>
            </a:pPr>
            <a:r>
              <a:rPr lang="en-US" sz="1500" b="1" i="1" dirty="0">
                <a:solidFill>
                  <a:srgbClr val="1B3A2F"/>
                </a:solidFill>
                <a:latin typeface="Calibri" pitchFamily="34" charset="0"/>
                <a:ea typeface="Calibri" pitchFamily="34" charset="-122"/>
                <a:cs typeface="Calibri" pitchFamily="34" charset="-120"/>
              </a:rPr>
              <a:t>This strategy only ever bets the OVER.</a:t>
            </a:r>
            <a:endParaRPr lang="en-US" sz="1500" dirty="0"/>
          </a:p>
        </p:txBody>
      </p:sp>
      <p:sp>
        <p:nvSpPr>
          <p:cNvPr id="13" name="Shape 11"/>
          <p:cNvSpPr/>
          <p:nvPr/>
        </p:nvSpPr>
        <p:spPr>
          <a:xfrm>
            <a:off x="7086600" y="1600200"/>
            <a:ext cx="4434840" cy="3611880"/>
          </a:xfrm>
          <a:prstGeom prst="roundRect">
            <a:avLst>
              <a:gd name="adj" fmla="val 3038"/>
            </a:avLst>
          </a:prstGeom>
          <a:solidFill>
            <a:srgbClr val="1B3A2F"/>
          </a:solidFill>
          <a:ln w="12700">
            <a:solidFill>
              <a:srgbClr val="1B3A2F"/>
            </a:solidFill>
            <a:prstDash val="solid"/>
          </a:ln>
        </p:spPr>
      </p:sp>
      <p:sp>
        <p:nvSpPr>
          <p:cNvPr id="14" name="Text 12"/>
          <p:cNvSpPr/>
          <p:nvPr/>
        </p:nvSpPr>
        <p:spPr>
          <a:xfrm>
            <a:off x="7452360" y="1874520"/>
            <a:ext cx="3703320" cy="274320"/>
          </a:xfrm>
          <a:prstGeom prst="rect">
            <a:avLst/>
          </a:prstGeom>
          <a:noFill/>
          <a:ln/>
        </p:spPr>
        <p:txBody>
          <a:bodyPr wrap="square" lIns="0" tIns="0" rIns="0" bIns="0" rtlCol="0" anchor="ctr"/>
          <a:lstStyle/>
          <a:p>
            <a:pPr indent="0" marL="0">
              <a:buNone/>
            </a:pPr>
            <a:r>
              <a:rPr lang="en-US" sz="1100" b="1" spc="200" kern="0" dirty="0">
                <a:solidFill>
                  <a:srgbClr val="D4A537"/>
                </a:solidFill>
                <a:latin typeface="Calibri" pitchFamily="34" charset="0"/>
                <a:ea typeface="Calibri" pitchFamily="34" charset="-122"/>
                <a:cs typeface="Calibri" pitchFamily="34" charset="-120"/>
              </a:rPr>
              <a:t>EXAMPLE</a:t>
            </a:r>
            <a:endParaRPr lang="en-US" sz="1100" dirty="0"/>
          </a:p>
        </p:txBody>
      </p:sp>
      <p:sp>
        <p:nvSpPr>
          <p:cNvPr id="15" name="Text 13"/>
          <p:cNvSpPr/>
          <p:nvPr/>
        </p:nvSpPr>
        <p:spPr>
          <a:xfrm>
            <a:off x="7452360" y="2212848"/>
            <a:ext cx="3703320" cy="548640"/>
          </a:xfrm>
          <a:prstGeom prst="rect">
            <a:avLst/>
          </a:prstGeom>
          <a:noFill/>
          <a:ln/>
        </p:spPr>
        <p:txBody>
          <a:bodyPr wrap="square" lIns="0" tIns="0" rIns="0" bIns="0" rtlCol="0" anchor="ctr"/>
          <a:lstStyle/>
          <a:p>
            <a:pPr indent="0" marL="0">
              <a:buNone/>
            </a:pPr>
            <a:r>
              <a:rPr lang="en-US" sz="3200" b="1" dirty="0">
                <a:solidFill>
                  <a:srgbClr val="FFFFFF"/>
                </a:solidFill>
                <a:latin typeface="Bookman Old Style" pitchFamily="34" charset="0"/>
                <a:ea typeface="Bookman Old Style" pitchFamily="34" charset="-122"/>
                <a:cs typeface="Bookman Old Style" pitchFamily="34" charset="-120"/>
              </a:rPr>
              <a:t>Total: 41</a:t>
            </a:r>
            <a:endParaRPr lang="en-US" sz="3200" dirty="0"/>
          </a:p>
        </p:txBody>
      </p:sp>
      <p:sp>
        <p:nvSpPr>
          <p:cNvPr id="16" name="Text 14"/>
          <p:cNvSpPr/>
          <p:nvPr/>
        </p:nvSpPr>
        <p:spPr>
          <a:xfrm>
            <a:off x="7452360" y="2880360"/>
            <a:ext cx="3703320" cy="2011680"/>
          </a:xfrm>
          <a:prstGeom prst="rect">
            <a:avLst/>
          </a:prstGeom>
          <a:noFill/>
          <a:ln/>
        </p:spPr>
        <p:txBody>
          <a:bodyPr wrap="square" lIns="0" tIns="0" rIns="0" bIns="0" rtlCol="0" anchor="ctr"/>
          <a:lstStyle/>
          <a:p>
            <a:pPr indent="0" marL="0">
              <a:lnSpc>
                <a:spcPts val="2100"/>
              </a:lnSpc>
              <a:buNone/>
            </a:pPr>
            <a:r>
              <a:rPr lang="en-US" sz="1350" b="1" dirty="0">
                <a:solidFill>
                  <a:srgbClr val="FFFFFF"/>
                </a:solidFill>
                <a:latin typeface="Calibri" pitchFamily="34" charset="0"/>
                <a:ea typeface="Calibri" pitchFamily="34" charset="-122"/>
                <a:cs typeface="Calibri" pitchFamily="34" charset="-120"/>
              </a:rPr>
              <a:t>Final score 28–17  →  45 points
</a:t>
            </a:r>
            <a:pPr indent="0" marL="0">
              <a:lnSpc>
                <a:spcPts val="2100"/>
              </a:lnSpc>
              <a:buNone/>
            </a:pPr>
            <a:r>
              <a:rPr lang="en-US" sz="1350" dirty="0">
                <a:solidFill>
                  <a:srgbClr val="A9C0B3"/>
                </a:solidFill>
                <a:latin typeface="Calibri" pitchFamily="34" charset="0"/>
                <a:ea typeface="Calibri" pitchFamily="34" charset="-122"/>
                <a:cs typeface="Calibri" pitchFamily="34" charset="-120"/>
              </a:rPr>
              <a:t>45 is above 41, so the OVER wins.
</a:t>
            </a:r>
            <a:pPr indent="0" marL="0">
              <a:lnSpc>
                <a:spcPts val="2100"/>
              </a:lnSpc>
              <a:buNone/>
            </a:pPr>
            <a:r>
              <a:rPr lang="en-US" sz="1350" b="1" dirty="0">
                <a:solidFill>
                  <a:srgbClr val="FFFFFF"/>
                </a:solidFill>
                <a:latin typeface="Calibri" pitchFamily="34" charset="0"/>
                <a:ea typeface="Calibri" pitchFamily="34" charset="-122"/>
                <a:cs typeface="Calibri" pitchFamily="34" charset="-120"/>
              </a:rPr>
              <a:t>Final score 14–10  →  24 points
</a:t>
            </a:r>
            <a:pPr indent="0" marL="0">
              <a:lnSpc>
                <a:spcPts val="2100"/>
              </a:lnSpc>
              <a:buNone/>
            </a:pPr>
            <a:r>
              <a:rPr lang="en-US" sz="1350" dirty="0">
                <a:solidFill>
                  <a:srgbClr val="A9C0B3"/>
                </a:solidFill>
                <a:latin typeface="Calibri" pitchFamily="34" charset="0"/>
                <a:ea typeface="Calibri" pitchFamily="34" charset="-122"/>
                <a:cs typeface="Calibri" pitchFamily="34" charset="-120"/>
              </a:rPr>
              <a:t>24 is below 41, so the OVER loses.</a:t>
            </a:r>
            <a:endParaRPr lang="en-US" sz="13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640080" y="457200"/>
            <a:ext cx="10881360" cy="274320"/>
          </a:xfrm>
          <a:prstGeom prst="rect">
            <a:avLst/>
          </a:prstGeom>
          <a:noFill/>
          <a:ln/>
        </p:spPr>
        <p:txBody>
          <a:bodyPr wrap="square" lIns="0" tIns="0" rIns="0" bIns="0" rtlCol="0" anchor="ctr"/>
          <a:lstStyle/>
          <a:p>
            <a:pPr indent="0" marL="0">
              <a:buNone/>
            </a:pPr>
            <a:r>
              <a:rPr lang="en-US" sz="1200" b="1" spc="200" kern="0" dirty="0">
                <a:solidFill>
                  <a:srgbClr val="2C5F4A"/>
                </a:solidFill>
                <a:latin typeface="Calibri" pitchFamily="34" charset="0"/>
                <a:ea typeface="Calibri" pitchFamily="34" charset="-122"/>
                <a:cs typeface="Calibri" pitchFamily="34" charset="-120"/>
              </a:rPr>
              <a:t>BETTING BASICS — 2 OF 3</a:t>
            </a:r>
            <a:endParaRPr lang="en-US" sz="1200" dirty="0"/>
          </a:p>
        </p:txBody>
      </p:sp>
      <p:sp>
        <p:nvSpPr>
          <p:cNvPr id="3" name="Text 1"/>
          <p:cNvSpPr/>
          <p:nvPr/>
        </p:nvSpPr>
        <p:spPr>
          <a:xfrm>
            <a:off x="640080" y="768096"/>
            <a:ext cx="10881360" cy="731520"/>
          </a:xfrm>
          <a:prstGeom prst="rect">
            <a:avLst/>
          </a:prstGeom>
          <a:noFill/>
          <a:ln/>
        </p:spPr>
        <p:txBody>
          <a:bodyPr wrap="square" lIns="0" tIns="0" rIns="0" bIns="0" rtlCol="0" anchor="ctr"/>
          <a:lstStyle/>
          <a:p>
            <a:pPr indent="0" marL="0">
              <a:buNone/>
            </a:pPr>
            <a:r>
              <a:rPr lang="en-US" sz="3400" b="1" dirty="0">
                <a:solidFill>
                  <a:srgbClr val="1B3A2F"/>
                </a:solidFill>
                <a:latin typeface="Bookman Old Style" pitchFamily="34" charset="0"/>
                <a:ea typeface="Bookman Old Style" pitchFamily="34" charset="-122"/>
                <a:cs typeface="Bookman Old Style" pitchFamily="34" charset="-120"/>
              </a:rPr>
              <a:t>Second: what is a “spread”?</a:t>
            </a:r>
            <a:endParaRPr lang="en-US" sz="3400" dirty="0"/>
          </a:p>
        </p:txBody>
      </p:sp>
      <p:sp>
        <p:nvSpPr>
          <p:cNvPr id="4" name="Text 2"/>
          <p:cNvSpPr/>
          <p:nvPr/>
        </p:nvSpPr>
        <p:spPr>
          <a:xfrm>
            <a:off x="640080" y="1600200"/>
            <a:ext cx="10881360" cy="548640"/>
          </a:xfrm>
          <a:prstGeom prst="rect">
            <a:avLst/>
          </a:prstGeom>
          <a:noFill/>
          <a:ln/>
        </p:spPr>
        <p:txBody>
          <a:bodyPr wrap="square" lIns="0" tIns="0" rIns="0" bIns="0" rtlCol="0" anchor="ctr"/>
          <a:lstStyle/>
          <a:p>
            <a:pPr indent="0" marL="0">
              <a:lnSpc>
                <a:spcPts val="2500"/>
              </a:lnSpc>
              <a:buNone/>
            </a:pPr>
            <a:r>
              <a:rPr lang="en-US" sz="1600" dirty="0">
                <a:solidFill>
                  <a:srgbClr val="1A1A18"/>
                </a:solidFill>
                <a:latin typeface="Calibri" pitchFamily="34" charset="0"/>
                <a:ea typeface="Calibri" pitchFamily="34" charset="-122"/>
                <a:cs typeface="Calibri" pitchFamily="34" charset="-120"/>
              </a:rPr>
              <a:t>The spread is the sportsbook's estimate of how lopsided the game is — how many points the favorite is expected to win by.</a:t>
            </a:r>
            <a:endParaRPr lang="en-US" sz="1600" dirty="0"/>
          </a:p>
        </p:txBody>
      </p:sp>
      <p:sp>
        <p:nvSpPr>
          <p:cNvPr id="5" name="Shape 3"/>
          <p:cNvSpPr/>
          <p:nvPr/>
        </p:nvSpPr>
        <p:spPr>
          <a:xfrm>
            <a:off x="640080" y="2395728"/>
            <a:ext cx="3383280" cy="1600200"/>
          </a:xfrm>
          <a:prstGeom prst="roundRect">
            <a:avLst>
              <a:gd name="adj" fmla="val 5714"/>
            </a:avLst>
          </a:prstGeom>
          <a:solidFill>
            <a:srgbClr val="FFFFFF"/>
          </a:solidFill>
          <a:ln w="12700">
            <a:solidFill>
              <a:srgbClr val="E2DFD5"/>
            </a:solidFill>
            <a:prstDash val="solid"/>
          </a:ln>
        </p:spPr>
      </p:sp>
      <p:sp>
        <p:nvSpPr>
          <p:cNvPr id="6" name="Text 4"/>
          <p:cNvSpPr/>
          <p:nvPr/>
        </p:nvSpPr>
        <p:spPr>
          <a:xfrm>
            <a:off x="914400" y="2633472"/>
            <a:ext cx="2834640" cy="411480"/>
          </a:xfrm>
          <a:prstGeom prst="rect">
            <a:avLst/>
          </a:prstGeom>
          <a:noFill/>
          <a:ln/>
        </p:spPr>
        <p:txBody>
          <a:bodyPr wrap="square" lIns="0" tIns="0" rIns="0" bIns="0" rtlCol="0" anchor="ctr"/>
          <a:lstStyle/>
          <a:p>
            <a:pPr indent="0" marL="0">
              <a:buNone/>
            </a:pPr>
            <a:r>
              <a:rPr lang="en-US" sz="2000" b="1" dirty="0">
                <a:solidFill>
                  <a:srgbClr val="1B3A2F"/>
                </a:solidFill>
                <a:latin typeface="Bookman Old Style" pitchFamily="34" charset="0"/>
                <a:ea typeface="Bookman Old Style" pitchFamily="34" charset="-122"/>
                <a:cs typeface="Bookman Old Style" pitchFamily="34" charset="-120"/>
              </a:rPr>
              <a:t>Spread of 3</a:t>
            </a:r>
            <a:endParaRPr lang="en-US" sz="2000" dirty="0"/>
          </a:p>
        </p:txBody>
      </p:sp>
      <p:sp>
        <p:nvSpPr>
          <p:cNvPr id="7" name="Text 5"/>
          <p:cNvSpPr/>
          <p:nvPr/>
        </p:nvSpPr>
        <p:spPr>
          <a:xfrm>
            <a:off x="914400" y="3090672"/>
            <a:ext cx="2834640" cy="777240"/>
          </a:xfrm>
          <a:prstGeom prst="rect">
            <a:avLst/>
          </a:prstGeom>
          <a:noFill/>
          <a:ln/>
        </p:spPr>
        <p:txBody>
          <a:bodyPr wrap="square" lIns="0" tIns="0" rIns="0" bIns="0" rtlCol="0" anchor="ctr"/>
          <a:lstStyle/>
          <a:p>
            <a:pPr indent="0" marL="0">
              <a:lnSpc>
                <a:spcPts val="1900"/>
              </a:lnSpc>
              <a:buNone/>
            </a:pPr>
            <a:r>
              <a:rPr lang="en-US" sz="1300" dirty="0">
                <a:solidFill>
                  <a:srgbClr val="1A1A18"/>
                </a:solidFill>
                <a:latin typeface="Calibri" pitchFamily="34" charset="0"/>
                <a:ea typeface="Calibri" pitchFamily="34" charset="-122"/>
                <a:cs typeface="Calibri" pitchFamily="34" charset="-120"/>
              </a:rPr>
              <a:t>A close game between</a:t>
            </a:r>
            <a:endParaRPr lang="en-US" sz="1300" dirty="0"/>
          </a:p>
          <a:p>
            <a:pPr indent="0" marL="0">
              <a:lnSpc>
                <a:spcPts val="1900"/>
              </a:lnSpc>
              <a:buNone/>
            </a:pPr>
            <a:r>
              <a:rPr lang="en-US" sz="1300" dirty="0">
                <a:solidFill>
                  <a:srgbClr val="1A1A18"/>
                </a:solidFill>
                <a:latin typeface="Calibri" pitchFamily="34" charset="0"/>
                <a:ea typeface="Calibri" pitchFamily="34" charset="-122"/>
                <a:cs typeface="Calibri" pitchFamily="34" charset="-120"/>
              </a:rPr>
              <a:t>evenly matched teams.</a:t>
            </a:r>
            <a:endParaRPr lang="en-US" sz="1300" dirty="0"/>
          </a:p>
        </p:txBody>
      </p:sp>
      <p:sp>
        <p:nvSpPr>
          <p:cNvPr id="8" name="Shape 6"/>
          <p:cNvSpPr/>
          <p:nvPr/>
        </p:nvSpPr>
        <p:spPr>
          <a:xfrm>
            <a:off x="4361688" y="2395728"/>
            <a:ext cx="3383280" cy="1600200"/>
          </a:xfrm>
          <a:prstGeom prst="roundRect">
            <a:avLst>
              <a:gd name="adj" fmla="val 5714"/>
            </a:avLst>
          </a:prstGeom>
          <a:solidFill>
            <a:srgbClr val="FFFFFF"/>
          </a:solidFill>
          <a:ln w="12700">
            <a:solidFill>
              <a:srgbClr val="E2DFD5"/>
            </a:solidFill>
            <a:prstDash val="solid"/>
          </a:ln>
        </p:spPr>
      </p:sp>
      <p:sp>
        <p:nvSpPr>
          <p:cNvPr id="9" name="Text 7"/>
          <p:cNvSpPr/>
          <p:nvPr/>
        </p:nvSpPr>
        <p:spPr>
          <a:xfrm>
            <a:off x="4636008" y="2633472"/>
            <a:ext cx="2834640" cy="411480"/>
          </a:xfrm>
          <a:prstGeom prst="rect">
            <a:avLst/>
          </a:prstGeom>
          <a:noFill/>
          <a:ln/>
        </p:spPr>
        <p:txBody>
          <a:bodyPr wrap="square" lIns="0" tIns="0" rIns="0" bIns="0" rtlCol="0" anchor="ctr"/>
          <a:lstStyle/>
          <a:p>
            <a:pPr indent="0" marL="0">
              <a:buNone/>
            </a:pPr>
            <a:r>
              <a:rPr lang="en-US" sz="2000" b="1" dirty="0">
                <a:solidFill>
                  <a:srgbClr val="1B3A2F"/>
                </a:solidFill>
                <a:latin typeface="Bookman Old Style" pitchFamily="34" charset="0"/>
                <a:ea typeface="Bookman Old Style" pitchFamily="34" charset="-122"/>
                <a:cs typeface="Bookman Old Style" pitchFamily="34" charset="-120"/>
              </a:rPr>
              <a:t>Spread of 21</a:t>
            </a:r>
            <a:endParaRPr lang="en-US" sz="2000" dirty="0"/>
          </a:p>
        </p:txBody>
      </p:sp>
      <p:sp>
        <p:nvSpPr>
          <p:cNvPr id="10" name="Text 8"/>
          <p:cNvSpPr/>
          <p:nvPr/>
        </p:nvSpPr>
        <p:spPr>
          <a:xfrm>
            <a:off x="4636008" y="3090672"/>
            <a:ext cx="2834640" cy="777240"/>
          </a:xfrm>
          <a:prstGeom prst="rect">
            <a:avLst/>
          </a:prstGeom>
          <a:noFill/>
          <a:ln/>
        </p:spPr>
        <p:txBody>
          <a:bodyPr wrap="square" lIns="0" tIns="0" rIns="0" bIns="0" rtlCol="0" anchor="ctr"/>
          <a:lstStyle/>
          <a:p>
            <a:pPr indent="0" marL="0">
              <a:lnSpc>
                <a:spcPts val="1900"/>
              </a:lnSpc>
              <a:buNone/>
            </a:pPr>
            <a:r>
              <a:rPr lang="en-US" sz="1300" dirty="0">
                <a:solidFill>
                  <a:srgbClr val="1A1A18"/>
                </a:solidFill>
                <a:latin typeface="Calibri" pitchFamily="34" charset="0"/>
                <a:ea typeface="Calibri" pitchFamily="34" charset="-122"/>
                <a:cs typeface="Calibri" pitchFamily="34" charset="-120"/>
              </a:rPr>
              <a:t>A blowout is expected —</a:t>
            </a:r>
            <a:endParaRPr lang="en-US" sz="1300" dirty="0"/>
          </a:p>
          <a:p>
            <a:pPr indent="0" marL="0">
              <a:lnSpc>
                <a:spcPts val="1900"/>
              </a:lnSpc>
              <a:buNone/>
            </a:pPr>
            <a:r>
              <a:rPr lang="en-US" sz="1300" dirty="0">
                <a:solidFill>
                  <a:srgbClr val="1A1A18"/>
                </a:solidFill>
                <a:latin typeface="Calibri" pitchFamily="34" charset="0"/>
                <a:ea typeface="Calibri" pitchFamily="34" charset="-122"/>
                <a:cs typeface="Calibri" pitchFamily="34" charset="-120"/>
              </a:rPr>
              <a:t>one team is far better.</a:t>
            </a:r>
            <a:endParaRPr lang="en-US" sz="1300" dirty="0"/>
          </a:p>
        </p:txBody>
      </p:sp>
      <p:sp>
        <p:nvSpPr>
          <p:cNvPr id="11" name="Shape 9"/>
          <p:cNvSpPr/>
          <p:nvPr/>
        </p:nvSpPr>
        <p:spPr>
          <a:xfrm>
            <a:off x="8083296" y="2395728"/>
            <a:ext cx="3383280" cy="1600200"/>
          </a:xfrm>
          <a:prstGeom prst="roundRect">
            <a:avLst>
              <a:gd name="adj" fmla="val 5714"/>
            </a:avLst>
          </a:prstGeom>
          <a:solidFill>
            <a:srgbClr val="FFFFFF"/>
          </a:solidFill>
          <a:ln w="12700">
            <a:solidFill>
              <a:srgbClr val="E2DFD5"/>
            </a:solidFill>
            <a:prstDash val="solid"/>
          </a:ln>
        </p:spPr>
      </p:sp>
      <p:sp>
        <p:nvSpPr>
          <p:cNvPr id="12" name="Text 10"/>
          <p:cNvSpPr/>
          <p:nvPr/>
        </p:nvSpPr>
        <p:spPr>
          <a:xfrm>
            <a:off x="8357616" y="2633472"/>
            <a:ext cx="2834640" cy="411480"/>
          </a:xfrm>
          <a:prstGeom prst="rect">
            <a:avLst/>
          </a:prstGeom>
          <a:noFill/>
          <a:ln/>
        </p:spPr>
        <p:txBody>
          <a:bodyPr wrap="square" lIns="0" tIns="0" rIns="0" bIns="0" rtlCol="0" anchor="ctr"/>
          <a:lstStyle/>
          <a:p>
            <a:pPr indent="0" marL="0">
              <a:buNone/>
            </a:pPr>
            <a:r>
              <a:rPr lang="en-US" sz="2000" b="1" dirty="0">
                <a:solidFill>
                  <a:srgbClr val="1B3A2F"/>
                </a:solidFill>
                <a:latin typeface="Bookman Old Style" pitchFamily="34" charset="0"/>
                <a:ea typeface="Bookman Old Style" pitchFamily="34" charset="-122"/>
                <a:cs typeface="Bookman Old Style" pitchFamily="34" charset="-120"/>
              </a:rPr>
              <a:t>Spread of 35</a:t>
            </a:r>
            <a:endParaRPr lang="en-US" sz="2000" dirty="0"/>
          </a:p>
        </p:txBody>
      </p:sp>
      <p:sp>
        <p:nvSpPr>
          <p:cNvPr id="13" name="Text 11"/>
          <p:cNvSpPr/>
          <p:nvPr/>
        </p:nvSpPr>
        <p:spPr>
          <a:xfrm>
            <a:off x="8357616" y="3090672"/>
            <a:ext cx="2834640" cy="777240"/>
          </a:xfrm>
          <a:prstGeom prst="rect">
            <a:avLst/>
          </a:prstGeom>
          <a:noFill/>
          <a:ln/>
        </p:spPr>
        <p:txBody>
          <a:bodyPr wrap="square" lIns="0" tIns="0" rIns="0" bIns="0" rtlCol="0" anchor="ctr"/>
          <a:lstStyle/>
          <a:p>
            <a:pPr indent="0" marL="0">
              <a:lnSpc>
                <a:spcPts val="1900"/>
              </a:lnSpc>
              <a:buNone/>
            </a:pPr>
            <a:r>
              <a:rPr lang="en-US" sz="1300" dirty="0">
                <a:solidFill>
                  <a:srgbClr val="1A1A18"/>
                </a:solidFill>
                <a:latin typeface="Calibri" pitchFamily="34" charset="0"/>
                <a:ea typeface="Calibri" pitchFamily="34" charset="-122"/>
                <a:cs typeface="Calibri" pitchFamily="34" charset="-120"/>
              </a:rPr>
              <a:t>A total mismatch.</a:t>
            </a:r>
            <a:endParaRPr lang="en-US" sz="1300" dirty="0"/>
          </a:p>
        </p:txBody>
      </p:sp>
      <p:sp>
        <p:nvSpPr>
          <p:cNvPr id="14" name="Shape 12"/>
          <p:cNvSpPr/>
          <p:nvPr/>
        </p:nvSpPr>
        <p:spPr>
          <a:xfrm>
            <a:off x="640080" y="4315968"/>
            <a:ext cx="10881360" cy="1234440"/>
          </a:xfrm>
          <a:prstGeom prst="roundRect">
            <a:avLst>
              <a:gd name="adj" fmla="val 7407"/>
            </a:avLst>
          </a:prstGeom>
          <a:solidFill>
            <a:srgbClr val="E8EFE9"/>
          </a:solidFill>
          <a:ln w="12700">
            <a:solidFill>
              <a:srgbClr val="CFDDD3"/>
            </a:solidFill>
            <a:prstDash val="solid"/>
          </a:ln>
        </p:spPr>
      </p:sp>
      <p:sp>
        <p:nvSpPr>
          <p:cNvPr id="15" name="Shape 13"/>
          <p:cNvSpPr/>
          <p:nvPr/>
        </p:nvSpPr>
        <p:spPr>
          <a:xfrm>
            <a:off x="960120" y="4663440"/>
            <a:ext cx="502920" cy="502920"/>
          </a:xfrm>
          <a:prstGeom prst="ellipse">
            <a:avLst/>
          </a:prstGeom>
          <a:solidFill>
            <a:srgbClr val="D4A537"/>
          </a:solidFill>
          <a:ln w="12700">
            <a:solidFill>
              <a:srgbClr val="D4A537"/>
            </a:solidFill>
            <a:prstDash val="solid"/>
          </a:ln>
        </p:spPr>
      </p:sp>
      <p:sp>
        <p:nvSpPr>
          <p:cNvPr id="16" name="Text 14"/>
          <p:cNvSpPr/>
          <p:nvPr/>
        </p:nvSpPr>
        <p:spPr>
          <a:xfrm>
            <a:off x="960120" y="4663440"/>
            <a:ext cx="502920" cy="502920"/>
          </a:xfrm>
          <a:prstGeom prst="rect">
            <a:avLst/>
          </a:prstGeom>
          <a:noFill/>
          <a:ln/>
        </p:spPr>
        <p:txBody>
          <a:bodyPr wrap="square" lIns="0" tIns="0" rIns="0" bIns="0" rtlCol="0" anchor="ctr"/>
          <a:lstStyle/>
          <a:p>
            <a:pPr algn="ctr" indent="0" marL="0">
              <a:buNone/>
            </a:pPr>
            <a:r>
              <a:rPr lang="en-US" sz="1700" b="1" dirty="0">
                <a:solidFill>
                  <a:srgbClr val="1B3A2F"/>
                </a:solidFill>
                <a:latin typeface="Bookman Old Style" pitchFamily="34" charset="0"/>
                <a:ea typeface="Bookman Old Style" pitchFamily="34" charset="-122"/>
                <a:cs typeface="Bookman Old Style" pitchFamily="34" charset="-120"/>
              </a:rPr>
              <a:t>!</a:t>
            </a:r>
            <a:endParaRPr lang="en-US" sz="1700" dirty="0"/>
          </a:p>
        </p:txBody>
      </p:sp>
      <p:sp>
        <p:nvSpPr>
          <p:cNvPr id="17" name="Text 15"/>
          <p:cNvSpPr/>
          <p:nvPr/>
        </p:nvSpPr>
        <p:spPr>
          <a:xfrm>
            <a:off x="1691640" y="4480560"/>
            <a:ext cx="9418320" cy="914400"/>
          </a:xfrm>
          <a:prstGeom prst="rect">
            <a:avLst/>
          </a:prstGeom>
          <a:noFill/>
          <a:ln/>
        </p:spPr>
        <p:txBody>
          <a:bodyPr wrap="square" lIns="0" tIns="0" rIns="0" bIns="0" rtlCol="0" anchor="ctr"/>
          <a:lstStyle/>
          <a:p>
            <a:pPr indent="0" marL="0">
              <a:lnSpc>
                <a:spcPts val="2200"/>
              </a:lnSpc>
              <a:buNone/>
            </a:pPr>
            <a:r>
              <a:rPr lang="en-US" sz="1450" b="1" dirty="0">
                <a:solidFill>
                  <a:srgbClr val="1B3A2F"/>
                </a:solidFill>
                <a:latin typeface="Calibri" pitchFamily="34" charset="0"/>
                <a:ea typeface="Calibri" pitchFamily="34" charset="-122"/>
                <a:cs typeface="Calibri" pitchFamily="34" charset="-120"/>
              </a:rPr>
              <a:t>Why we care:  </a:t>
            </a:r>
            <a:pPr indent="0" marL="0">
              <a:lnSpc>
                <a:spcPts val="2200"/>
              </a:lnSpc>
              <a:buNone/>
            </a:pPr>
            <a:r>
              <a:rPr lang="en-US" sz="1450" dirty="0">
                <a:solidFill>
                  <a:srgbClr val="1A1A18"/>
                </a:solidFill>
                <a:latin typeface="Calibri" pitchFamily="34" charset="0"/>
                <a:ea typeface="Calibri" pitchFamily="34" charset="-122"/>
                <a:cs typeface="Calibri" pitchFamily="34" charset="-120"/>
              </a:rPr>
              <a:t>the spread and the total together tell you roughly how many points each team is expected to score on its own. That per-team number is where the whole strategy lives.</a:t>
            </a:r>
            <a:endParaRPr lang="en-US" sz="14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640080" y="457200"/>
            <a:ext cx="10881360" cy="274320"/>
          </a:xfrm>
          <a:prstGeom prst="rect">
            <a:avLst/>
          </a:prstGeom>
          <a:noFill/>
          <a:ln/>
        </p:spPr>
        <p:txBody>
          <a:bodyPr wrap="square" lIns="0" tIns="0" rIns="0" bIns="0" rtlCol="0" anchor="ctr"/>
          <a:lstStyle/>
          <a:p>
            <a:pPr indent="0" marL="0">
              <a:buNone/>
            </a:pPr>
            <a:r>
              <a:rPr lang="en-US" sz="1200" b="1" spc="200" kern="0" dirty="0">
                <a:solidFill>
                  <a:srgbClr val="2C5F4A"/>
                </a:solidFill>
                <a:latin typeface="Calibri" pitchFamily="34" charset="0"/>
                <a:ea typeface="Calibri" pitchFamily="34" charset="-122"/>
                <a:cs typeface="Calibri" pitchFamily="34" charset="-120"/>
              </a:rPr>
              <a:t>BETTING BASICS — 3 OF 3</a:t>
            </a:r>
            <a:endParaRPr lang="en-US" sz="1200" dirty="0"/>
          </a:p>
        </p:txBody>
      </p:sp>
      <p:sp>
        <p:nvSpPr>
          <p:cNvPr id="3" name="Text 1"/>
          <p:cNvSpPr/>
          <p:nvPr/>
        </p:nvSpPr>
        <p:spPr>
          <a:xfrm>
            <a:off x="640080" y="768096"/>
            <a:ext cx="10881360" cy="731520"/>
          </a:xfrm>
          <a:prstGeom prst="rect">
            <a:avLst/>
          </a:prstGeom>
          <a:noFill/>
          <a:ln/>
        </p:spPr>
        <p:txBody>
          <a:bodyPr wrap="square" lIns="0" tIns="0" rIns="0" bIns="0" rtlCol="0" anchor="ctr"/>
          <a:lstStyle/>
          <a:p>
            <a:pPr indent="0" marL="0">
              <a:buNone/>
            </a:pPr>
            <a:r>
              <a:rPr lang="en-US" sz="3400" b="1" dirty="0">
                <a:solidFill>
                  <a:srgbClr val="1B3A2F"/>
                </a:solidFill>
                <a:latin typeface="Bookman Old Style" pitchFamily="34" charset="0"/>
                <a:ea typeface="Bookman Old Style" pitchFamily="34" charset="-122"/>
                <a:cs typeface="Bookman Old Style" pitchFamily="34" charset="-120"/>
              </a:rPr>
              <a:t>Third: winning half your bets loses money</a:t>
            </a:r>
            <a:endParaRPr lang="en-US" sz="3400" dirty="0"/>
          </a:p>
        </p:txBody>
      </p:sp>
      <p:sp>
        <p:nvSpPr>
          <p:cNvPr id="4" name="Text 2"/>
          <p:cNvSpPr/>
          <p:nvPr/>
        </p:nvSpPr>
        <p:spPr>
          <a:xfrm>
            <a:off x="640080" y="1572768"/>
            <a:ext cx="10881360" cy="365760"/>
          </a:xfrm>
          <a:prstGeom prst="rect">
            <a:avLst/>
          </a:prstGeom>
          <a:noFill/>
          <a:ln/>
        </p:spPr>
        <p:txBody>
          <a:bodyPr wrap="square" lIns="0" tIns="0" rIns="0" bIns="0" rtlCol="0" anchor="ctr"/>
          <a:lstStyle/>
          <a:p>
            <a:pPr indent="0" marL="0">
              <a:buNone/>
            </a:pPr>
            <a:r>
              <a:rPr lang="en-US" sz="1600" dirty="0">
                <a:solidFill>
                  <a:srgbClr val="1A1A18"/>
                </a:solidFill>
                <a:latin typeface="Calibri" pitchFamily="34" charset="0"/>
                <a:ea typeface="Calibri" pitchFamily="34" charset="-122"/>
                <a:cs typeface="Calibri" pitchFamily="34" charset="-120"/>
              </a:rPr>
              <a:t>Sportsbooks charge a fee, built into the odds. The standard price is written “−110”.</a:t>
            </a:r>
            <a:endParaRPr lang="en-US" sz="1600" dirty="0"/>
          </a:p>
        </p:txBody>
      </p:sp>
      <p:sp>
        <p:nvSpPr>
          <p:cNvPr id="5" name="Shape 3"/>
          <p:cNvSpPr/>
          <p:nvPr/>
        </p:nvSpPr>
        <p:spPr>
          <a:xfrm>
            <a:off x="640080" y="2121408"/>
            <a:ext cx="5257800" cy="1463040"/>
          </a:xfrm>
          <a:prstGeom prst="roundRect">
            <a:avLst>
              <a:gd name="adj" fmla="val 6250"/>
            </a:avLst>
          </a:prstGeom>
          <a:solidFill>
            <a:srgbClr val="FFFFFF"/>
          </a:solidFill>
          <a:ln w="12700">
            <a:solidFill>
              <a:srgbClr val="E2DFD5"/>
            </a:solidFill>
            <a:prstDash val="solid"/>
          </a:ln>
        </p:spPr>
      </p:sp>
      <p:sp>
        <p:nvSpPr>
          <p:cNvPr id="6" name="Text 4"/>
          <p:cNvSpPr/>
          <p:nvPr/>
        </p:nvSpPr>
        <p:spPr>
          <a:xfrm>
            <a:off x="960120" y="2331720"/>
            <a:ext cx="4617720" cy="384048"/>
          </a:xfrm>
          <a:prstGeom prst="rect">
            <a:avLst/>
          </a:prstGeom>
          <a:noFill/>
          <a:ln/>
        </p:spPr>
        <p:txBody>
          <a:bodyPr wrap="square" lIns="0" tIns="0" rIns="0" bIns="0" rtlCol="0" anchor="ctr"/>
          <a:lstStyle/>
          <a:p>
            <a:pPr indent="0" marL="0">
              <a:buNone/>
            </a:pPr>
            <a:r>
              <a:rPr lang="en-US" sz="2100" b="1" dirty="0">
                <a:solidFill>
                  <a:srgbClr val="1A1A18"/>
                </a:solidFill>
                <a:latin typeface="Bookman Old Style" pitchFamily="34" charset="0"/>
                <a:ea typeface="Bookman Old Style" pitchFamily="34" charset="-122"/>
                <a:cs typeface="Bookman Old Style" pitchFamily="34" charset="-120"/>
              </a:rPr>
              <a:t>You risk $110</a:t>
            </a:r>
            <a:endParaRPr lang="en-US" sz="2100" dirty="0"/>
          </a:p>
        </p:txBody>
      </p:sp>
      <p:sp>
        <p:nvSpPr>
          <p:cNvPr id="7" name="Text 5"/>
          <p:cNvSpPr/>
          <p:nvPr/>
        </p:nvSpPr>
        <p:spPr>
          <a:xfrm>
            <a:off x="960120" y="2724912"/>
            <a:ext cx="4617720" cy="384048"/>
          </a:xfrm>
          <a:prstGeom prst="rect">
            <a:avLst/>
          </a:prstGeom>
          <a:noFill/>
          <a:ln/>
        </p:spPr>
        <p:txBody>
          <a:bodyPr wrap="square" lIns="0" tIns="0" rIns="0" bIns="0" rtlCol="0" anchor="ctr"/>
          <a:lstStyle/>
          <a:p>
            <a:pPr indent="0" marL="0">
              <a:buNone/>
            </a:pPr>
            <a:r>
              <a:rPr lang="en-US" sz="2100" b="1" dirty="0">
                <a:solidFill>
                  <a:srgbClr val="1A1A18"/>
                </a:solidFill>
                <a:latin typeface="Bookman Old Style" pitchFamily="34" charset="0"/>
                <a:ea typeface="Bookman Old Style" pitchFamily="34" charset="-122"/>
                <a:cs typeface="Bookman Old Style" pitchFamily="34" charset="-120"/>
              </a:rPr>
              <a:t>to win $100.</a:t>
            </a:r>
            <a:endParaRPr lang="en-US" sz="2100" dirty="0"/>
          </a:p>
        </p:txBody>
      </p:sp>
      <p:sp>
        <p:nvSpPr>
          <p:cNvPr id="8" name="Text 6"/>
          <p:cNvSpPr/>
          <p:nvPr/>
        </p:nvSpPr>
        <p:spPr>
          <a:xfrm>
            <a:off x="960120" y="3145536"/>
            <a:ext cx="4617720" cy="274320"/>
          </a:xfrm>
          <a:prstGeom prst="rect">
            <a:avLst/>
          </a:prstGeom>
          <a:noFill/>
          <a:ln/>
        </p:spPr>
        <p:txBody>
          <a:bodyPr wrap="square" lIns="0" tIns="0" rIns="0" bIns="0" rtlCol="0" anchor="ctr"/>
          <a:lstStyle/>
          <a:p>
            <a:pPr indent="0" marL="0">
              <a:buNone/>
            </a:pPr>
            <a:r>
              <a:rPr lang="en-US" sz="1300" dirty="0">
                <a:solidFill>
                  <a:srgbClr val="6B6B63"/>
                </a:solidFill>
                <a:latin typeface="Calibri" pitchFamily="34" charset="0"/>
                <a:ea typeface="Calibri" pitchFamily="34" charset="-122"/>
                <a:cs typeface="Calibri" pitchFamily="34" charset="-120"/>
              </a:rPr>
              <a:t>Lose, and you're out the full $110.</a:t>
            </a:r>
            <a:endParaRPr lang="en-US" sz="1300" dirty="0"/>
          </a:p>
        </p:txBody>
      </p:sp>
      <p:sp>
        <p:nvSpPr>
          <p:cNvPr id="9" name="Shape 7"/>
          <p:cNvSpPr/>
          <p:nvPr/>
        </p:nvSpPr>
        <p:spPr>
          <a:xfrm>
            <a:off x="6263640" y="2121408"/>
            <a:ext cx="5257800" cy="1463040"/>
          </a:xfrm>
          <a:prstGeom prst="roundRect">
            <a:avLst>
              <a:gd name="adj" fmla="val 6250"/>
            </a:avLst>
          </a:prstGeom>
          <a:solidFill>
            <a:srgbClr val="F3E6E4"/>
          </a:solidFill>
          <a:ln w="12700">
            <a:solidFill>
              <a:srgbClr val="E0C9C5"/>
            </a:solidFill>
            <a:prstDash val="solid"/>
          </a:ln>
        </p:spPr>
      </p:sp>
      <p:sp>
        <p:nvSpPr>
          <p:cNvPr id="10" name="Text 8"/>
          <p:cNvSpPr/>
          <p:nvPr/>
        </p:nvSpPr>
        <p:spPr>
          <a:xfrm>
            <a:off x="6583680" y="2331720"/>
            <a:ext cx="4617720" cy="320040"/>
          </a:xfrm>
          <a:prstGeom prst="rect">
            <a:avLst/>
          </a:prstGeom>
          <a:noFill/>
          <a:ln/>
        </p:spPr>
        <p:txBody>
          <a:bodyPr wrap="square" lIns="0" tIns="0" rIns="0" bIns="0" rtlCol="0" anchor="ctr"/>
          <a:lstStyle/>
          <a:p>
            <a:pPr indent="0" marL="0">
              <a:buNone/>
            </a:pPr>
            <a:r>
              <a:rPr lang="en-US" sz="1400" b="1" dirty="0">
                <a:solidFill>
                  <a:srgbClr val="1A1A18"/>
                </a:solidFill>
                <a:latin typeface="Calibri" pitchFamily="34" charset="0"/>
                <a:ea typeface="Calibri" pitchFamily="34" charset="-122"/>
                <a:cs typeface="Calibri" pitchFamily="34" charset="-120"/>
              </a:rPr>
              <a:t>Bet 100 times, win 50:</a:t>
            </a:r>
            <a:endParaRPr lang="en-US" sz="1400" dirty="0"/>
          </a:p>
        </p:txBody>
      </p:sp>
      <p:sp>
        <p:nvSpPr>
          <p:cNvPr id="11" name="Text 9"/>
          <p:cNvSpPr/>
          <p:nvPr/>
        </p:nvSpPr>
        <p:spPr>
          <a:xfrm>
            <a:off x="6583680" y="2679192"/>
            <a:ext cx="4617720" cy="320040"/>
          </a:xfrm>
          <a:prstGeom prst="rect">
            <a:avLst/>
          </a:prstGeom>
          <a:noFill/>
          <a:ln/>
        </p:spPr>
        <p:txBody>
          <a:bodyPr wrap="square" lIns="0" tIns="0" rIns="0" bIns="0" rtlCol="0" anchor="ctr"/>
          <a:lstStyle/>
          <a:p>
            <a:pPr indent="0" marL="0">
              <a:buNone/>
            </a:pPr>
            <a:r>
              <a:rPr lang="en-US" sz="1400" dirty="0">
                <a:solidFill>
                  <a:srgbClr val="1A1A18"/>
                </a:solidFill>
                <a:latin typeface="Calibri" pitchFamily="34" charset="0"/>
                <a:ea typeface="Calibri" pitchFamily="34" charset="-122"/>
                <a:cs typeface="Calibri" pitchFamily="34" charset="-120"/>
              </a:rPr>
              <a:t>+$5,000 won  −  $5,500 lost</a:t>
            </a:r>
            <a:endParaRPr lang="en-US" sz="1400" dirty="0"/>
          </a:p>
        </p:txBody>
      </p:sp>
      <p:sp>
        <p:nvSpPr>
          <p:cNvPr id="12" name="Text 10"/>
          <p:cNvSpPr/>
          <p:nvPr/>
        </p:nvSpPr>
        <p:spPr>
          <a:xfrm>
            <a:off x="6583680" y="3017520"/>
            <a:ext cx="4617720" cy="457200"/>
          </a:xfrm>
          <a:prstGeom prst="rect">
            <a:avLst/>
          </a:prstGeom>
          <a:noFill/>
          <a:ln/>
        </p:spPr>
        <p:txBody>
          <a:bodyPr wrap="square" lIns="0" tIns="0" rIns="0" bIns="0" rtlCol="0" anchor="ctr"/>
          <a:lstStyle/>
          <a:p>
            <a:pPr indent="0" marL="0">
              <a:buNone/>
            </a:pPr>
            <a:r>
              <a:rPr lang="en-US" sz="2400" b="1" dirty="0">
                <a:solidFill>
                  <a:srgbClr val="A33A2E"/>
                </a:solidFill>
                <a:latin typeface="Bookman Old Style" pitchFamily="34" charset="0"/>
                <a:ea typeface="Bookman Old Style" pitchFamily="34" charset="-122"/>
                <a:cs typeface="Bookman Old Style" pitchFamily="34" charset="-120"/>
              </a:rPr>
              <a:t>= −$500</a:t>
            </a:r>
            <a:endParaRPr lang="en-US" sz="2400" dirty="0"/>
          </a:p>
        </p:txBody>
      </p:sp>
      <p:sp>
        <p:nvSpPr>
          <p:cNvPr id="13" name="Shape 11"/>
          <p:cNvSpPr/>
          <p:nvPr/>
        </p:nvSpPr>
        <p:spPr>
          <a:xfrm>
            <a:off x="640080" y="3886200"/>
            <a:ext cx="10881360" cy="1600200"/>
          </a:xfrm>
          <a:prstGeom prst="roundRect">
            <a:avLst>
              <a:gd name="adj" fmla="val 6857"/>
            </a:avLst>
          </a:prstGeom>
          <a:solidFill>
            <a:srgbClr val="1B3A2F"/>
          </a:solidFill>
          <a:ln w="12700">
            <a:solidFill>
              <a:srgbClr val="1B3A2F"/>
            </a:solidFill>
            <a:prstDash val="solid"/>
          </a:ln>
        </p:spPr>
      </p:sp>
      <p:sp>
        <p:nvSpPr>
          <p:cNvPr id="14" name="Text 12"/>
          <p:cNvSpPr/>
          <p:nvPr/>
        </p:nvSpPr>
        <p:spPr>
          <a:xfrm>
            <a:off x="1005840" y="4160520"/>
            <a:ext cx="2468880" cy="1005840"/>
          </a:xfrm>
          <a:prstGeom prst="rect">
            <a:avLst/>
          </a:prstGeom>
          <a:noFill/>
          <a:ln/>
        </p:spPr>
        <p:txBody>
          <a:bodyPr wrap="square" lIns="0" tIns="0" rIns="0" bIns="0" rtlCol="0" anchor="ctr"/>
          <a:lstStyle/>
          <a:p>
            <a:pPr indent="0" marL="0">
              <a:buNone/>
            </a:pPr>
            <a:r>
              <a:rPr lang="en-US" sz="4800" b="1" dirty="0">
                <a:solidFill>
                  <a:srgbClr val="D4A537"/>
                </a:solidFill>
                <a:latin typeface="Bookman Old Style" pitchFamily="34" charset="0"/>
                <a:ea typeface="Bookman Old Style" pitchFamily="34" charset="-122"/>
                <a:cs typeface="Bookman Old Style" pitchFamily="34" charset="-120"/>
              </a:rPr>
              <a:t>52.4%</a:t>
            </a:r>
            <a:endParaRPr lang="en-US" sz="4800" dirty="0"/>
          </a:p>
        </p:txBody>
      </p:sp>
      <p:sp>
        <p:nvSpPr>
          <p:cNvPr id="15" name="Text 13"/>
          <p:cNvSpPr/>
          <p:nvPr/>
        </p:nvSpPr>
        <p:spPr>
          <a:xfrm>
            <a:off x="3657600" y="4160520"/>
            <a:ext cx="7589520" cy="1051560"/>
          </a:xfrm>
          <a:prstGeom prst="rect">
            <a:avLst/>
          </a:prstGeom>
          <a:noFill/>
          <a:ln/>
        </p:spPr>
        <p:txBody>
          <a:bodyPr wrap="square" lIns="0" tIns="0" rIns="0" bIns="0" rtlCol="0" anchor="ctr"/>
          <a:lstStyle/>
          <a:p>
            <a:pPr indent="0" marL="0">
              <a:lnSpc>
                <a:spcPts val="2200"/>
              </a:lnSpc>
              <a:buNone/>
            </a:pPr>
            <a:r>
              <a:rPr lang="en-US" sz="1450" b="1" dirty="0">
                <a:solidFill>
                  <a:srgbClr val="FFFFFF"/>
                </a:solidFill>
                <a:latin typeface="Calibri" pitchFamily="34" charset="0"/>
                <a:ea typeface="Calibri" pitchFamily="34" charset="-122"/>
                <a:cs typeface="Calibri" pitchFamily="34" charset="-120"/>
              </a:rPr>
              <a:t>is “breakeven” — the win rate where you make exactly nothing.
</a:t>
            </a:r>
            <a:pPr indent="0" marL="0">
              <a:lnSpc>
                <a:spcPts val="2200"/>
              </a:lnSpc>
              <a:buNone/>
            </a:pPr>
            <a:r>
              <a:rPr lang="en-US" sz="1450" dirty="0">
                <a:solidFill>
                  <a:srgbClr val="A9C0B3"/>
                </a:solidFill>
                <a:latin typeface="Calibri" pitchFamily="34" charset="0"/>
                <a:ea typeface="Calibri" pitchFamily="34" charset="-122"/>
                <a:cs typeface="Calibri" pitchFamily="34" charset="-120"/>
              </a:rPr>
              <a:t>Anything below it and the house fee grinds you down. This is why beating a coin flip isn't enough, and why 57% is a meaningful number.</a:t>
            </a:r>
            <a:endParaRPr lang="en-US" sz="14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B3A2F"/>
        </a:solidFill>
      </p:bgPr>
    </p:bg>
    <p:spTree>
      <p:nvGrpSpPr>
        <p:cNvPr id="1" name=""/>
        <p:cNvGrpSpPr/>
        <p:nvPr/>
      </p:nvGrpSpPr>
      <p:grpSpPr>
        <a:xfrm>
          <a:off x="0" y="0"/>
          <a:ext cx="0" cy="0"/>
          <a:chOff x="0" y="0"/>
          <a:chExt cx="0" cy="0"/>
        </a:xfrm>
      </p:grpSpPr>
      <p:sp>
        <p:nvSpPr>
          <p:cNvPr id="2" name="Text 0"/>
          <p:cNvSpPr/>
          <p:nvPr/>
        </p:nvSpPr>
        <p:spPr>
          <a:xfrm>
            <a:off x="640080" y="475488"/>
            <a:ext cx="10881360" cy="274320"/>
          </a:xfrm>
          <a:prstGeom prst="rect">
            <a:avLst/>
          </a:prstGeom>
          <a:noFill/>
          <a:ln/>
        </p:spPr>
        <p:txBody>
          <a:bodyPr wrap="square" lIns="0" tIns="0" rIns="0" bIns="0" rtlCol="0" anchor="ctr"/>
          <a:lstStyle/>
          <a:p>
            <a:pPr indent="0" marL="0">
              <a:buNone/>
            </a:pPr>
            <a:r>
              <a:rPr lang="en-US" sz="1200" b="1" spc="200" kern="0" dirty="0">
                <a:solidFill>
                  <a:srgbClr val="D4A537"/>
                </a:solidFill>
                <a:latin typeface="Calibri" pitchFamily="34" charset="0"/>
                <a:ea typeface="Calibri" pitchFamily="34" charset="-122"/>
                <a:cs typeface="Calibri" pitchFamily="34" charset="-120"/>
              </a:rPr>
              <a:t>THE INSIGHT</a:t>
            </a:r>
            <a:endParaRPr lang="en-US" sz="1200" dirty="0"/>
          </a:p>
        </p:txBody>
      </p:sp>
      <p:sp>
        <p:nvSpPr>
          <p:cNvPr id="3" name="Text 1"/>
          <p:cNvSpPr/>
          <p:nvPr/>
        </p:nvSpPr>
        <p:spPr>
          <a:xfrm>
            <a:off x="640080" y="786384"/>
            <a:ext cx="10881360" cy="868680"/>
          </a:xfrm>
          <a:prstGeom prst="rect">
            <a:avLst/>
          </a:prstGeom>
          <a:noFill/>
          <a:ln/>
        </p:spPr>
        <p:txBody>
          <a:bodyPr wrap="square" lIns="0" tIns="0" rIns="0" bIns="0" rtlCol="0" anchor="ctr"/>
          <a:lstStyle/>
          <a:p>
            <a:pPr indent="0" marL="0">
              <a:buNone/>
            </a:pPr>
            <a:r>
              <a:rPr lang="en-US" sz="3800" b="1" dirty="0">
                <a:solidFill>
                  <a:srgbClr val="FFFFFF"/>
                </a:solidFill>
                <a:latin typeface="Bookman Old Style" pitchFamily="34" charset="0"/>
                <a:ea typeface="Bookman Old Style" pitchFamily="34" charset="-122"/>
                <a:cs typeface="Bookman Old Style" pitchFamily="34" charset="-120"/>
              </a:rPr>
              <a:t>A team cannot score negative points</a:t>
            </a:r>
            <a:endParaRPr lang="en-US" sz="3800" dirty="0"/>
          </a:p>
        </p:txBody>
      </p:sp>
      <p:sp>
        <p:nvSpPr>
          <p:cNvPr id="4" name="Text 2"/>
          <p:cNvSpPr/>
          <p:nvPr/>
        </p:nvSpPr>
        <p:spPr>
          <a:xfrm>
            <a:off x="640080" y="1691640"/>
            <a:ext cx="10881360" cy="365760"/>
          </a:xfrm>
          <a:prstGeom prst="rect">
            <a:avLst/>
          </a:prstGeom>
          <a:noFill/>
          <a:ln/>
        </p:spPr>
        <p:txBody>
          <a:bodyPr wrap="square" lIns="0" tIns="0" rIns="0" bIns="0" rtlCol="0" anchor="ctr"/>
          <a:lstStyle/>
          <a:p>
            <a:pPr indent="0" marL="0">
              <a:buNone/>
            </a:pPr>
            <a:r>
              <a:rPr lang="en-US" sz="1700" i="1" dirty="0">
                <a:solidFill>
                  <a:srgbClr val="D4A537"/>
                </a:solidFill>
                <a:latin typeface="Calibri" pitchFamily="34" charset="0"/>
                <a:ea typeface="Calibri" pitchFamily="34" charset="-122"/>
                <a:cs typeface="Calibri" pitchFamily="34" charset="-120"/>
              </a:rPr>
              <a:t>Obvious — but the sportsbook's math quietly ignores it.</a:t>
            </a:r>
            <a:endParaRPr lang="en-US" sz="1700" dirty="0"/>
          </a:p>
        </p:txBody>
      </p:sp>
      <p:sp>
        <p:nvSpPr>
          <p:cNvPr id="5" name="Shape 3"/>
          <p:cNvSpPr/>
          <p:nvPr/>
        </p:nvSpPr>
        <p:spPr>
          <a:xfrm>
            <a:off x="640080" y="2340864"/>
            <a:ext cx="530352" cy="530352"/>
          </a:xfrm>
          <a:prstGeom prst="ellipse">
            <a:avLst/>
          </a:prstGeom>
          <a:solidFill>
            <a:srgbClr val="D4A537"/>
          </a:solidFill>
          <a:ln w="12700">
            <a:solidFill>
              <a:srgbClr val="D4A537"/>
            </a:solidFill>
            <a:prstDash val="solid"/>
          </a:ln>
        </p:spPr>
      </p:sp>
      <p:sp>
        <p:nvSpPr>
          <p:cNvPr id="6" name="Text 4"/>
          <p:cNvSpPr/>
          <p:nvPr/>
        </p:nvSpPr>
        <p:spPr>
          <a:xfrm>
            <a:off x="640080" y="2340864"/>
            <a:ext cx="530352" cy="530352"/>
          </a:xfrm>
          <a:prstGeom prst="rect">
            <a:avLst/>
          </a:prstGeom>
          <a:noFill/>
          <a:ln/>
        </p:spPr>
        <p:txBody>
          <a:bodyPr wrap="square" lIns="0" tIns="0" rIns="0" bIns="0" rtlCol="0" anchor="ctr"/>
          <a:lstStyle/>
          <a:p>
            <a:pPr algn="ctr" indent="0" marL="0">
              <a:buNone/>
            </a:pPr>
            <a:r>
              <a:rPr lang="en-US" sz="1600" b="1" dirty="0">
                <a:solidFill>
                  <a:srgbClr val="1B3A2F"/>
                </a:solidFill>
                <a:latin typeface="Bookman Old Style" pitchFamily="34" charset="0"/>
                <a:ea typeface="Bookman Old Style" pitchFamily="34" charset="-122"/>
                <a:cs typeface="Bookman Old Style" pitchFamily="34" charset="-120"/>
              </a:rPr>
              <a:t>1</a:t>
            </a:r>
            <a:endParaRPr lang="en-US" sz="1600" dirty="0"/>
          </a:p>
        </p:txBody>
      </p:sp>
      <p:sp>
        <p:nvSpPr>
          <p:cNvPr id="7" name="Text 5"/>
          <p:cNvSpPr/>
          <p:nvPr/>
        </p:nvSpPr>
        <p:spPr>
          <a:xfrm>
            <a:off x="1389888" y="2286000"/>
            <a:ext cx="9966960" cy="329184"/>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The book prices a team's average expected score.</a:t>
            </a:r>
            <a:endParaRPr lang="en-US" sz="1600" dirty="0"/>
          </a:p>
        </p:txBody>
      </p:sp>
      <p:sp>
        <p:nvSpPr>
          <p:cNvPr id="8" name="Text 6"/>
          <p:cNvSpPr/>
          <p:nvPr/>
        </p:nvSpPr>
        <p:spPr>
          <a:xfrm>
            <a:off x="1389888" y="2615184"/>
            <a:ext cx="9966960" cy="329184"/>
          </a:xfrm>
          <a:prstGeom prst="rect">
            <a:avLst/>
          </a:prstGeom>
          <a:noFill/>
          <a:ln/>
        </p:spPr>
        <p:txBody>
          <a:bodyPr wrap="square" lIns="0" tIns="0" rIns="0" bIns="0" rtlCol="0" anchor="ctr"/>
          <a:lstStyle/>
          <a:p>
            <a:pPr indent="0" marL="0">
              <a:buNone/>
            </a:pPr>
            <a:r>
              <a:rPr lang="en-US" sz="1350" dirty="0">
                <a:solidFill>
                  <a:srgbClr val="9FB8A9"/>
                </a:solidFill>
                <a:latin typeface="Calibri" pitchFamily="34" charset="0"/>
                <a:ea typeface="Calibri" pitchFamily="34" charset="-122"/>
                <a:cs typeface="Calibri" pitchFamily="34" charset="-120"/>
              </a:rPr>
              <a:t>Say a big underdog is expected to score about 10 points.</a:t>
            </a:r>
            <a:endParaRPr lang="en-US" sz="1350" dirty="0"/>
          </a:p>
        </p:txBody>
      </p:sp>
      <p:sp>
        <p:nvSpPr>
          <p:cNvPr id="9" name="Shape 7"/>
          <p:cNvSpPr/>
          <p:nvPr/>
        </p:nvSpPr>
        <p:spPr>
          <a:xfrm>
            <a:off x="640080" y="3236976"/>
            <a:ext cx="530352" cy="530352"/>
          </a:xfrm>
          <a:prstGeom prst="ellipse">
            <a:avLst/>
          </a:prstGeom>
          <a:solidFill>
            <a:srgbClr val="D4A537"/>
          </a:solidFill>
          <a:ln w="12700">
            <a:solidFill>
              <a:srgbClr val="D4A537"/>
            </a:solidFill>
            <a:prstDash val="solid"/>
          </a:ln>
        </p:spPr>
      </p:sp>
      <p:sp>
        <p:nvSpPr>
          <p:cNvPr id="10" name="Text 8"/>
          <p:cNvSpPr/>
          <p:nvPr/>
        </p:nvSpPr>
        <p:spPr>
          <a:xfrm>
            <a:off x="640080" y="3236976"/>
            <a:ext cx="530352" cy="530352"/>
          </a:xfrm>
          <a:prstGeom prst="rect">
            <a:avLst/>
          </a:prstGeom>
          <a:noFill/>
          <a:ln/>
        </p:spPr>
        <p:txBody>
          <a:bodyPr wrap="square" lIns="0" tIns="0" rIns="0" bIns="0" rtlCol="0" anchor="ctr"/>
          <a:lstStyle/>
          <a:p>
            <a:pPr algn="ctr" indent="0" marL="0">
              <a:buNone/>
            </a:pPr>
            <a:r>
              <a:rPr lang="en-US" sz="1600" b="1" dirty="0">
                <a:solidFill>
                  <a:srgbClr val="1B3A2F"/>
                </a:solidFill>
                <a:latin typeface="Bookman Old Style" pitchFamily="34" charset="0"/>
                <a:ea typeface="Bookman Old Style" pitchFamily="34" charset="-122"/>
                <a:cs typeface="Bookman Old Style" pitchFamily="34" charset="-120"/>
              </a:rPr>
              <a:t>2</a:t>
            </a:r>
            <a:endParaRPr lang="en-US" sz="1600" dirty="0"/>
          </a:p>
        </p:txBody>
      </p:sp>
      <p:sp>
        <p:nvSpPr>
          <p:cNvPr id="11" name="Text 9"/>
          <p:cNvSpPr/>
          <p:nvPr/>
        </p:nvSpPr>
        <p:spPr>
          <a:xfrm>
            <a:off x="1389888" y="3182112"/>
            <a:ext cx="9966960" cy="329184"/>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Reality can beat that estimate by a lot.</a:t>
            </a:r>
            <a:endParaRPr lang="en-US" sz="1600" dirty="0"/>
          </a:p>
        </p:txBody>
      </p:sp>
      <p:sp>
        <p:nvSpPr>
          <p:cNvPr id="12" name="Text 10"/>
          <p:cNvSpPr/>
          <p:nvPr/>
        </p:nvSpPr>
        <p:spPr>
          <a:xfrm>
            <a:off x="1389888" y="3511296"/>
            <a:ext cx="9966960" cy="329184"/>
          </a:xfrm>
          <a:prstGeom prst="rect">
            <a:avLst/>
          </a:prstGeom>
          <a:noFill/>
          <a:ln/>
        </p:spPr>
        <p:txBody>
          <a:bodyPr wrap="square" lIns="0" tIns="0" rIns="0" bIns="0" rtlCol="0" anchor="ctr"/>
          <a:lstStyle/>
          <a:p>
            <a:pPr indent="0" marL="0">
              <a:buNone/>
            </a:pPr>
            <a:r>
              <a:rPr lang="en-US" sz="1350" dirty="0">
                <a:solidFill>
                  <a:srgbClr val="9FB8A9"/>
                </a:solidFill>
                <a:latin typeface="Calibri" pitchFamily="34" charset="0"/>
                <a:ea typeface="Calibri" pitchFamily="34" charset="-122"/>
                <a:cs typeface="Calibri" pitchFamily="34" charset="-120"/>
              </a:rPr>
              <a:t>A great day might mean 30 points — 20 above expectation.</a:t>
            </a:r>
            <a:endParaRPr lang="en-US" sz="1350" dirty="0"/>
          </a:p>
        </p:txBody>
      </p:sp>
      <p:sp>
        <p:nvSpPr>
          <p:cNvPr id="13" name="Shape 11"/>
          <p:cNvSpPr/>
          <p:nvPr/>
        </p:nvSpPr>
        <p:spPr>
          <a:xfrm>
            <a:off x="640080" y="4133088"/>
            <a:ext cx="530352" cy="530352"/>
          </a:xfrm>
          <a:prstGeom prst="ellipse">
            <a:avLst/>
          </a:prstGeom>
          <a:solidFill>
            <a:srgbClr val="D4A537"/>
          </a:solidFill>
          <a:ln w="12700">
            <a:solidFill>
              <a:srgbClr val="D4A537"/>
            </a:solidFill>
            <a:prstDash val="solid"/>
          </a:ln>
        </p:spPr>
      </p:sp>
      <p:sp>
        <p:nvSpPr>
          <p:cNvPr id="14" name="Text 12"/>
          <p:cNvSpPr/>
          <p:nvPr/>
        </p:nvSpPr>
        <p:spPr>
          <a:xfrm>
            <a:off x="640080" y="4133088"/>
            <a:ext cx="530352" cy="530352"/>
          </a:xfrm>
          <a:prstGeom prst="rect">
            <a:avLst/>
          </a:prstGeom>
          <a:noFill/>
          <a:ln/>
        </p:spPr>
        <p:txBody>
          <a:bodyPr wrap="square" lIns="0" tIns="0" rIns="0" bIns="0" rtlCol="0" anchor="ctr"/>
          <a:lstStyle/>
          <a:p>
            <a:pPr algn="ctr" indent="0" marL="0">
              <a:buNone/>
            </a:pPr>
            <a:r>
              <a:rPr lang="en-US" sz="1600" b="1" dirty="0">
                <a:solidFill>
                  <a:srgbClr val="1B3A2F"/>
                </a:solidFill>
                <a:latin typeface="Bookman Old Style" pitchFamily="34" charset="0"/>
                <a:ea typeface="Bookman Old Style" pitchFamily="34" charset="-122"/>
                <a:cs typeface="Bookman Old Style" pitchFamily="34" charset="-120"/>
              </a:rPr>
              <a:t>3</a:t>
            </a:r>
            <a:endParaRPr lang="en-US" sz="1600" dirty="0"/>
          </a:p>
        </p:txBody>
      </p:sp>
      <p:sp>
        <p:nvSpPr>
          <p:cNvPr id="15" name="Text 13"/>
          <p:cNvSpPr/>
          <p:nvPr/>
        </p:nvSpPr>
        <p:spPr>
          <a:xfrm>
            <a:off x="1389888" y="4078224"/>
            <a:ext cx="9966960" cy="329184"/>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But reality can only miss it by so much.</a:t>
            </a:r>
            <a:endParaRPr lang="en-US" sz="1600" dirty="0"/>
          </a:p>
        </p:txBody>
      </p:sp>
      <p:sp>
        <p:nvSpPr>
          <p:cNvPr id="16" name="Text 14"/>
          <p:cNvSpPr/>
          <p:nvPr/>
        </p:nvSpPr>
        <p:spPr>
          <a:xfrm>
            <a:off x="1389888" y="4407408"/>
            <a:ext cx="9966960" cy="329184"/>
          </a:xfrm>
          <a:prstGeom prst="rect">
            <a:avLst/>
          </a:prstGeom>
          <a:noFill/>
          <a:ln/>
        </p:spPr>
        <p:txBody>
          <a:bodyPr wrap="square" lIns="0" tIns="0" rIns="0" bIns="0" rtlCol="0" anchor="ctr"/>
          <a:lstStyle/>
          <a:p>
            <a:pPr indent="0" marL="0">
              <a:buNone/>
            </a:pPr>
            <a:r>
              <a:rPr lang="en-US" sz="1350" dirty="0">
                <a:solidFill>
                  <a:srgbClr val="9FB8A9"/>
                </a:solidFill>
                <a:latin typeface="Calibri" pitchFamily="34" charset="0"/>
                <a:ea typeface="Calibri" pitchFamily="34" charset="-122"/>
                <a:cs typeface="Calibri" pitchFamily="34" charset="-120"/>
              </a:rPr>
              <a:t>A disastrous day means 0 points. Not −8. The bottom is chopped off.</a:t>
            </a:r>
            <a:endParaRPr lang="en-US" sz="1350" dirty="0"/>
          </a:p>
        </p:txBody>
      </p:sp>
      <p:sp>
        <p:nvSpPr>
          <p:cNvPr id="17" name="Shape 15"/>
          <p:cNvSpPr/>
          <p:nvPr/>
        </p:nvSpPr>
        <p:spPr>
          <a:xfrm>
            <a:off x="640080" y="5029200"/>
            <a:ext cx="530352" cy="530352"/>
          </a:xfrm>
          <a:prstGeom prst="ellipse">
            <a:avLst/>
          </a:prstGeom>
          <a:solidFill>
            <a:srgbClr val="D4A537"/>
          </a:solidFill>
          <a:ln w="12700">
            <a:solidFill>
              <a:srgbClr val="D4A537"/>
            </a:solidFill>
            <a:prstDash val="solid"/>
          </a:ln>
        </p:spPr>
      </p:sp>
      <p:sp>
        <p:nvSpPr>
          <p:cNvPr id="18" name="Text 16"/>
          <p:cNvSpPr/>
          <p:nvPr/>
        </p:nvSpPr>
        <p:spPr>
          <a:xfrm>
            <a:off x="640080" y="5029200"/>
            <a:ext cx="530352" cy="530352"/>
          </a:xfrm>
          <a:prstGeom prst="rect">
            <a:avLst/>
          </a:prstGeom>
          <a:noFill/>
          <a:ln/>
        </p:spPr>
        <p:txBody>
          <a:bodyPr wrap="square" lIns="0" tIns="0" rIns="0" bIns="0" rtlCol="0" anchor="ctr"/>
          <a:lstStyle/>
          <a:p>
            <a:pPr algn="ctr" indent="0" marL="0">
              <a:buNone/>
            </a:pPr>
            <a:r>
              <a:rPr lang="en-US" sz="1600" b="1" dirty="0">
                <a:solidFill>
                  <a:srgbClr val="1B3A2F"/>
                </a:solidFill>
                <a:latin typeface="Bookman Old Style" pitchFamily="34" charset="0"/>
                <a:ea typeface="Bookman Old Style" pitchFamily="34" charset="-122"/>
                <a:cs typeface="Bookman Old Style" pitchFamily="34" charset="-120"/>
              </a:rPr>
              <a:t>4</a:t>
            </a:r>
            <a:endParaRPr lang="en-US" sz="1600" dirty="0"/>
          </a:p>
        </p:txBody>
      </p:sp>
      <p:sp>
        <p:nvSpPr>
          <p:cNvPr id="19" name="Text 17"/>
          <p:cNvSpPr/>
          <p:nvPr/>
        </p:nvSpPr>
        <p:spPr>
          <a:xfrm>
            <a:off x="1389888" y="4974336"/>
            <a:ext cx="9966960" cy="329184"/>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So actual scores average a bit higher than predicted.</a:t>
            </a:r>
            <a:endParaRPr lang="en-US" sz="1600" dirty="0"/>
          </a:p>
        </p:txBody>
      </p:sp>
      <p:sp>
        <p:nvSpPr>
          <p:cNvPr id="20" name="Text 18"/>
          <p:cNvSpPr/>
          <p:nvPr/>
        </p:nvSpPr>
        <p:spPr>
          <a:xfrm>
            <a:off x="1389888" y="5303520"/>
            <a:ext cx="9966960" cy="329184"/>
          </a:xfrm>
          <a:prstGeom prst="rect">
            <a:avLst/>
          </a:prstGeom>
          <a:noFill/>
          <a:ln/>
        </p:spPr>
        <p:txBody>
          <a:bodyPr wrap="square" lIns="0" tIns="0" rIns="0" bIns="0" rtlCol="0" anchor="ctr"/>
          <a:lstStyle/>
          <a:p>
            <a:pPr indent="0" marL="0">
              <a:buNone/>
            </a:pPr>
            <a:r>
              <a:rPr lang="en-US" sz="1350" dirty="0">
                <a:solidFill>
                  <a:srgbClr val="9FB8A9"/>
                </a:solidFill>
                <a:latin typeface="Calibri" pitchFamily="34" charset="0"/>
                <a:ea typeface="Calibri" pitchFamily="34" charset="-122"/>
                <a:cs typeface="Calibri" pitchFamily="34" charset="-120"/>
              </a:rPr>
              <a:t>The upside runs free; the downside hits a floor.</a:t>
            </a:r>
            <a:endParaRPr lang="en-US" sz="13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640080" y="457200"/>
            <a:ext cx="10881360" cy="274320"/>
          </a:xfrm>
          <a:prstGeom prst="rect">
            <a:avLst/>
          </a:prstGeom>
          <a:noFill/>
          <a:ln/>
        </p:spPr>
        <p:txBody>
          <a:bodyPr wrap="square" lIns="0" tIns="0" rIns="0" bIns="0" rtlCol="0" anchor="ctr"/>
          <a:lstStyle/>
          <a:p>
            <a:pPr indent="0" marL="0">
              <a:buNone/>
            </a:pPr>
            <a:r>
              <a:rPr lang="en-US" sz="1200" b="1" spc="200" kern="0" dirty="0">
                <a:solidFill>
                  <a:srgbClr val="2C5F4A"/>
                </a:solidFill>
                <a:latin typeface="Calibri" pitchFamily="34" charset="0"/>
                <a:ea typeface="Calibri" pitchFamily="34" charset="-122"/>
                <a:cs typeface="Calibri" pitchFamily="34" charset="-120"/>
              </a:rPr>
              <a:t>THE INSIGHT</a:t>
            </a:r>
            <a:endParaRPr lang="en-US" sz="1200" dirty="0"/>
          </a:p>
        </p:txBody>
      </p:sp>
      <p:sp>
        <p:nvSpPr>
          <p:cNvPr id="3" name="Text 1"/>
          <p:cNvSpPr/>
          <p:nvPr/>
        </p:nvSpPr>
        <p:spPr>
          <a:xfrm>
            <a:off x="640080" y="768096"/>
            <a:ext cx="10881360" cy="731520"/>
          </a:xfrm>
          <a:prstGeom prst="rect">
            <a:avLst/>
          </a:prstGeom>
          <a:noFill/>
          <a:ln/>
        </p:spPr>
        <p:txBody>
          <a:bodyPr wrap="square" lIns="0" tIns="0" rIns="0" bIns="0" rtlCol="0" anchor="ctr"/>
          <a:lstStyle/>
          <a:p>
            <a:pPr indent="0" marL="0">
              <a:buNone/>
            </a:pPr>
            <a:r>
              <a:rPr lang="en-US" sz="3400" b="1" dirty="0">
                <a:solidFill>
                  <a:srgbClr val="1B3A2F"/>
                </a:solidFill>
                <a:latin typeface="Bookman Old Style" pitchFamily="34" charset="0"/>
                <a:ea typeface="Bookman Old Style" pitchFamily="34" charset="-122"/>
                <a:cs typeface="Bookman Old Style" pitchFamily="34" charset="-120"/>
              </a:rPr>
              <a:t>The same idea, drawn</a:t>
            </a:r>
            <a:endParaRPr lang="en-US" sz="3400" dirty="0"/>
          </a:p>
        </p:txBody>
      </p:sp>
      <p:pic>
        <p:nvPicPr>
          <p:cNvPr id="4" name="Image 0" descr="C:\Users\mckel\dev\over-zero\docs\figs\mechanism.png">    </p:cNvPr>
          <p:cNvPicPr>
            <a:picLocks noChangeAspect="1"/>
          </p:cNvPicPr>
          <p:nvPr/>
        </p:nvPicPr>
        <p:blipFill>
          <a:blip r:embed="rId1"/>
          <a:stretch>
            <a:fillRect/>
          </a:stretch>
        </p:blipFill>
        <p:spPr>
          <a:xfrm>
            <a:off x="1417320" y="1481328"/>
            <a:ext cx="9326880" cy="3950208"/>
          </a:xfrm>
          <a:prstGeom prst="rect">
            <a:avLst/>
          </a:prstGeom>
        </p:spPr>
      </p:pic>
      <p:sp>
        <p:nvSpPr>
          <p:cNvPr id="5" name="Shape 2"/>
          <p:cNvSpPr/>
          <p:nvPr/>
        </p:nvSpPr>
        <p:spPr>
          <a:xfrm>
            <a:off x="640080" y="5486400"/>
            <a:ext cx="5349240" cy="1005840"/>
          </a:xfrm>
          <a:prstGeom prst="roundRect">
            <a:avLst>
              <a:gd name="adj" fmla="val 9091"/>
            </a:avLst>
          </a:prstGeom>
          <a:solidFill>
            <a:srgbClr val="FFFFFF"/>
          </a:solidFill>
          <a:ln w="12700">
            <a:solidFill>
              <a:srgbClr val="E2DFD5"/>
            </a:solidFill>
            <a:prstDash val="solid"/>
          </a:ln>
        </p:spPr>
      </p:sp>
      <p:sp>
        <p:nvSpPr>
          <p:cNvPr id="6" name="Text 3"/>
          <p:cNvSpPr/>
          <p:nvPr/>
        </p:nvSpPr>
        <p:spPr>
          <a:xfrm>
            <a:off x="914400" y="5486400"/>
            <a:ext cx="4846320" cy="1005840"/>
          </a:xfrm>
          <a:prstGeom prst="rect">
            <a:avLst/>
          </a:prstGeom>
          <a:noFill/>
          <a:ln/>
        </p:spPr>
        <p:txBody>
          <a:bodyPr wrap="square" lIns="0" tIns="0" rIns="0" bIns="0" rtlCol="0" anchor="ctr"/>
          <a:lstStyle/>
          <a:p>
            <a:pPr indent="0" marL="0">
              <a:lnSpc>
                <a:spcPts val="1700"/>
              </a:lnSpc>
              <a:buNone/>
            </a:pPr>
            <a:r>
              <a:rPr lang="en-US" sz="1200" b="1" dirty="0">
                <a:solidFill>
                  <a:srgbClr val="2C5F4A"/>
                </a:solidFill>
                <a:latin typeface="Calibri" pitchFamily="34" charset="0"/>
                <a:ea typeface="Calibri" pitchFamily="34" charset="-122"/>
                <a:cs typeface="Calibri" pitchFamily="34" charset="-120"/>
              </a:rPr>
              <a:t>LEFT:  </a:t>
            </a:r>
            <a:pPr indent="0" marL="0">
              <a:lnSpc>
                <a:spcPts val="1700"/>
              </a:lnSpc>
              <a:buNone/>
            </a:pPr>
            <a:r>
              <a:rPr lang="en-US" sz="1200" dirty="0">
                <a:solidFill>
                  <a:srgbClr val="1A1A18"/>
                </a:solidFill>
                <a:latin typeface="Calibri" pitchFamily="34" charset="0"/>
                <a:ea typeface="Calibri" pitchFamily="34" charset="-122"/>
                <a:cs typeface="Calibri" pitchFamily="34" charset="-120"/>
              </a:rPr>
              <a:t>the bell curve of what an underdog might score. Everything left of 0 is impossible — those outcomes all become “0”.</a:t>
            </a:r>
            <a:endParaRPr lang="en-US" sz="1200" dirty="0"/>
          </a:p>
        </p:txBody>
      </p:sp>
      <p:sp>
        <p:nvSpPr>
          <p:cNvPr id="7" name="Shape 4"/>
          <p:cNvSpPr/>
          <p:nvPr/>
        </p:nvSpPr>
        <p:spPr>
          <a:xfrm>
            <a:off x="6172200" y="5486400"/>
            <a:ext cx="5349240" cy="1005840"/>
          </a:xfrm>
          <a:prstGeom prst="roundRect">
            <a:avLst>
              <a:gd name="adj" fmla="val 9091"/>
            </a:avLst>
          </a:prstGeom>
          <a:solidFill>
            <a:srgbClr val="FFFFFF"/>
          </a:solidFill>
          <a:ln w="12700">
            <a:solidFill>
              <a:srgbClr val="E2DFD5"/>
            </a:solidFill>
            <a:prstDash val="solid"/>
          </a:ln>
        </p:spPr>
      </p:sp>
      <p:sp>
        <p:nvSpPr>
          <p:cNvPr id="8" name="Text 5"/>
          <p:cNvSpPr/>
          <p:nvPr/>
        </p:nvSpPr>
        <p:spPr>
          <a:xfrm>
            <a:off x="6446520" y="5486400"/>
            <a:ext cx="4846320" cy="1005840"/>
          </a:xfrm>
          <a:prstGeom prst="rect">
            <a:avLst/>
          </a:prstGeom>
          <a:noFill/>
          <a:ln/>
        </p:spPr>
        <p:txBody>
          <a:bodyPr wrap="square" lIns="0" tIns="0" rIns="0" bIns="0" rtlCol="0" anchor="ctr"/>
          <a:lstStyle/>
          <a:p>
            <a:pPr indent="0" marL="0">
              <a:lnSpc>
                <a:spcPts val="1700"/>
              </a:lnSpc>
              <a:buNone/>
            </a:pPr>
            <a:r>
              <a:rPr lang="en-US" sz="1200" b="1" dirty="0">
                <a:solidFill>
                  <a:srgbClr val="2C5F4A"/>
                </a:solidFill>
                <a:latin typeface="Calibri" pitchFamily="34" charset="0"/>
                <a:ea typeface="Calibri" pitchFamily="34" charset="-122"/>
                <a:cs typeface="Calibri" pitchFamily="34" charset="-120"/>
              </a:rPr>
              <a:t>RIGHT:  </a:t>
            </a:r>
            <a:pPr indent="0" marL="0">
              <a:lnSpc>
                <a:spcPts val="1700"/>
              </a:lnSpc>
              <a:buNone/>
            </a:pPr>
            <a:r>
              <a:rPr lang="en-US" sz="1200" dirty="0">
                <a:solidFill>
                  <a:srgbClr val="1A1A18"/>
                </a:solidFill>
                <a:latin typeface="Calibri" pitchFamily="34" charset="0"/>
                <a:ea typeface="Calibri" pitchFamily="34" charset="-122"/>
                <a:cs typeface="Calibri" pitchFamily="34" charset="-120"/>
              </a:rPr>
              <a:t>how much that pushes the real average up. Big for a team expected to score ~10. Near zero at 25+.</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640080" y="457200"/>
            <a:ext cx="10881360" cy="274320"/>
          </a:xfrm>
          <a:prstGeom prst="rect">
            <a:avLst/>
          </a:prstGeom>
          <a:noFill/>
          <a:ln/>
        </p:spPr>
        <p:txBody>
          <a:bodyPr wrap="square" lIns="0" tIns="0" rIns="0" bIns="0" rtlCol="0" anchor="ctr"/>
          <a:lstStyle/>
          <a:p>
            <a:pPr indent="0" marL="0">
              <a:buNone/>
            </a:pPr>
            <a:r>
              <a:rPr lang="en-US" sz="1200" b="1" spc="200" kern="0" dirty="0">
                <a:solidFill>
                  <a:srgbClr val="2C5F4A"/>
                </a:solidFill>
                <a:latin typeface="Calibri" pitchFamily="34" charset="0"/>
                <a:ea typeface="Calibri" pitchFamily="34" charset="-122"/>
                <a:cs typeface="Calibri" pitchFamily="34" charset="-120"/>
              </a:rPr>
              <a:t>THE INSIGHT</a:t>
            </a:r>
            <a:endParaRPr lang="en-US" sz="1200" dirty="0"/>
          </a:p>
        </p:txBody>
      </p:sp>
      <p:sp>
        <p:nvSpPr>
          <p:cNvPr id="3" name="Text 1"/>
          <p:cNvSpPr/>
          <p:nvPr/>
        </p:nvSpPr>
        <p:spPr>
          <a:xfrm>
            <a:off x="640080" y="768096"/>
            <a:ext cx="10881360" cy="731520"/>
          </a:xfrm>
          <a:prstGeom prst="rect">
            <a:avLst/>
          </a:prstGeom>
          <a:noFill/>
          <a:ln/>
        </p:spPr>
        <p:txBody>
          <a:bodyPr wrap="square" lIns="0" tIns="0" rIns="0" bIns="0" rtlCol="0" anchor="ctr"/>
          <a:lstStyle/>
          <a:p>
            <a:pPr indent="0" marL="0">
              <a:buNone/>
            </a:pPr>
            <a:r>
              <a:rPr lang="en-US" sz="3400" b="1" dirty="0">
                <a:solidFill>
                  <a:srgbClr val="1B3A2F"/>
                </a:solidFill>
                <a:latin typeface="Bookman Old Style" pitchFamily="34" charset="0"/>
                <a:ea typeface="Bookman Old Style" pitchFamily="34" charset="-122"/>
                <a:cs typeface="Bookman Old Style" pitchFamily="34" charset="-120"/>
              </a:rPr>
              <a:t>Why this makes the OVER underpriced</a:t>
            </a:r>
            <a:endParaRPr lang="en-US" sz="3400" dirty="0"/>
          </a:p>
        </p:txBody>
      </p:sp>
      <p:sp>
        <p:nvSpPr>
          <p:cNvPr id="4" name="Shape 2"/>
          <p:cNvSpPr/>
          <p:nvPr/>
        </p:nvSpPr>
        <p:spPr>
          <a:xfrm>
            <a:off x="640080" y="1554480"/>
            <a:ext cx="5257800" cy="2194560"/>
          </a:xfrm>
          <a:prstGeom prst="roundRect">
            <a:avLst>
              <a:gd name="adj" fmla="val 4167"/>
            </a:avLst>
          </a:prstGeom>
          <a:solidFill>
            <a:srgbClr val="FFFFFF"/>
          </a:solidFill>
          <a:ln w="19050">
            <a:solidFill>
              <a:srgbClr val="CFDDD3"/>
            </a:solidFill>
            <a:prstDash val="solid"/>
          </a:ln>
        </p:spPr>
      </p:sp>
      <p:sp>
        <p:nvSpPr>
          <p:cNvPr id="5" name="Shape 3"/>
          <p:cNvSpPr/>
          <p:nvPr/>
        </p:nvSpPr>
        <p:spPr>
          <a:xfrm>
            <a:off x="932688" y="1810512"/>
            <a:ext cx="502920" cy="502920"/>
          </a:xfrm>
          <a:prstGeom prst="ellipse">
            <a:avLst/>
          </a:prstGeom>
          <a:solidFill>
            <a:srgbClr val="D4A537"/>
          </a:solidFill>
          <a:ln w="12700">
            <a:solidFill>
              <a:srgbClr val="D4A537"/>
            </a:solidFill>
            <a:prstDash val="solid"/>
          </a:ln>
        </p:spPr>
      </p:sp>
      <p:sp>
        <p:nvSpPr>
          <p:cNvPr id="6" name="Text 4"/>
          <p:cNvSpPr/>
          <p:nvPr/>
        </p:nvSpPr>
        <p:spPr>
          <a:xfrm>
            <a:off x="932688" y="1810512"/>
            <a:ext cx="502920" cy="502920"/>
          </a:xfrm>
          <a:prstGeom prst="rect">
            <a:avLst/>
          </a:prstGeom>
          <a:noFill/>
          <a:ln/>
        </p:spPr>
        <p:txBody>
          <a:bodyPr wrap="square" lIns="0" tIns="0" rIns="0" bIns="0" rtlCol="0" anchor="ctr"/>
          <a:lstStyle/>
          <a:p>
            <a:pPr algn="ctr" indent="0" marL="0">
              <a:buNone/>
            </a:pPr>
            <a:r>
              <a:rPr lang="en-US" sz="2000" b="1" dirty="0">
                <a:solidFill>
                  <a:srgbClr val="1B3A2F"/>
                </a:solidFill>
                <a:latin typeface="Bookman Old Style" pitchFamily="34" charset="0"/>
                <a:ea typeface="Bookman Old Style" pitchFamily="34" charset="-122"/>
                <a:cs typeface="Bookman Old Style" pitchFamily="34" charset="-120"/>
              </a:rPr>
              <a:t>+</a:t>
            </a:r>
            <a:endParaRPr lang="en-US" sz="2000" dirty="0"/>
          </a:p>
        </p:txBody>
      </p:sp>
      <p:sp>
        <p:nvSpPr>
          <p:cNvPr id="7" name="Text 5"/>
          <p:cNvSpPr/>
          <p:nvPr/>
        </p:nvSpPr>
        <p:spPr>
          <a:xfrm>
            <a:off x="1627632" y="1856232"/>
            <a:ext cx="4023360" cy="365760"/>
          </a:xfrm>
          <a:prstGeom prst="rect">
            <a:avLst/>
          </a:prstGeom>
          <a:noFill/>
          <a:ln/>
        </p:spPr>
        <p:txBody>
          <a:bodyPr wrap="square" lIns="0" tIns="0" rIns="0" bIns="0" rtlCol="0" anchor="ctr"/>
          <a:lstStyle/>
          <a:p>
            <a:pPr indent="0" marL="0">
              <a:buNone/>
            </a:pPr>
            <a:r>
              <a:rPr lang="en-US" sz="1900" b="1" dirty="0">
                <a:solidFill>
                  <a:srgbClr val="1B3A2F"/>
                </a:solidFill>
                <a:latin typeface="Bookman Old Style" pitchFamily="34" charset="0"/>
                <a:ea typeface="Bookman Old Style" pitchFamily="34" charset="-122"/>
                <a:cs typeface="Bookman Old Style" pitchFamily="34" charset="-120"/>
              </a:rPr>
              <a:t>Totals: the effects ADD</a:t>
            </a:r>
            <a:endParaRPr lang="en-US" sz="1900" dirty="0"/>
          </a:p>
        </p:txBody>
      </p:sp>
      <p:sp>
        <p:nvSpPr>
          <p:cNvPr id="8" name="Text 6"/>
          <p:cNvSpPr/>
          <p:nvPr/>
        </p:nvSpPr>
        <p:spPr>
          <a:xfrm>
            <a:off x="932688" y="2450592"/>
            <a:ext cx="4709160" cy="1143000"/>
          </a:xfrm>
          <a:prstGeom prst="rect">
            <a:avLst/>
          </a:prstGeom>
          <a:noFill/>
          <a:ln/>
        </p:spPr>
        <p:txBody>
          <a:bodyPr wrap="square" lIns="0" tIns="0" rIns="0" bIns="0" rtlCol="0" anchor="ctr"/>
          <a:lstStyle/>
          <a:p>
            <a:pPr indent="0" marL="0">
              <a:lnSpc>
                <a:spcPts val="2000"/>
              </a:lnSpc>
              <a:buNone/>
            </a:pPr>
            <a:r>
              <a:rPr lang="en-US" sz="1350" dirty="0">
                <a:solidFill>
                  <a:srgbClr val="1A1A18"/>
                </a:solidFill>
                <a:latin typeface="Calibri" pitchFamily="34" charset="0"/>
                <a:ea typeface="Calibri" pitchFamily="34" charset="-122"/>
                <a:cs typeface="Calibri" pitchFamily="34" charset="-120"/>
              </a:rPr>
              <a:t>Both teams get nudged upward, and a total adds the two scores together. The nudges stack — so real combined scores land above the posted number more often than the book expects.</a:t>
            </a:r>
            <a:endParaRPr lang="en-US" sz="1350" dirty="0"/>
          </a:p>
        </p:txBody>
      </p:sp>
      <p:sp>
        <p:nvSpPr>
          <p:cNvPr id="9" name="Text 7"/>
          <p:cNvSpPr/>
          <p:nvPr/>
        </p:nvSpPr>
        <p:spPr>
          <a:xfrm>
            <a:off x="932688" y="3401568"/>
            <a:ext cx="4709160" cy="274320"/>
          </a:xfrm>
          <a:prstGeom prst="rect">
            <a:avLst/>
          </a:prstGeom>
          <a:noFill/>
          <a:ln/>
        </p:spPr>
        <p:txBody>
          <a:bodyPr wrap="square" lIns="0" tIns="0" rIns="0" bIns="0" rtlCol="0" anchor="ctr"/>
          <a:lstStyle/>
          <a:p>
            <a:pPr indent="0" marL="0">
              <a:buNone/>
            </a:pPr>
            <a:r>
              <a:rPr lang="en-US" sz="1400" b="1" dirty="0">
                <a:solidFill>
                  <a:srgbClr val="2C5F4A"/>
                </a:solidFill>
                <a:latin typeface="Calibri" pitchFamily="34" charset="0"/>
                <a:ea typeface="Calibri" pitchFamily="34" charset="-122"/>
                <a:cs typeface="Calibri" pitchFamily="34" charset="-120"/>
              </a:rPr>
              <a:t>→  There is an edge here.</a:t>
            </a:r>
            <a:endParaRPr lang="en-US" sz="1400" dirty="0"/>
          </a:p>
        </p:txBody>
      </p:sp>
      <p:sp>
        <p:nvSpPr>
          <p:cNvPr id="10" name="Shape 8"/>
          <p:cNvSpPr/>
          <p:nvPr/>
        </p:nvSpPr>
        <p:spPr>
          <a:xfrm>
            <a:off x="6263640" y="1554480"/>
            <a:ext cx="5257800" cy="2194560"/>
          </a:xfrm>
          <a:prstGeom prst="roundRect">
            <a:avLst>
              <a:gd name="adj" fmla="val 4167"/>
            </a:avLst>
          </a:prstGeom>
          <a:solidFill>
            <a:srgbClr val="F0EFEA"/>
          </a:solidFill>
          <a:ln w="12700">
            <a:solidFill>
              <a:srgbClr val="DDDACF"/>
            </a:solidFill>
            <a:prstDash val="solid"/>
          </a:ln>
        </p:spPr>
      </p:sp>
      <p:sp>
        <p:nvSpPr>
          <p:cNvPr id="11" name="Shape 9"/>
          <p:cNvSpPr/>
          <p:nvPr/>
        </p:nvSpPr>
        <p:spPr>
          <a:xfrm>
            <a:off x="6556248" y="1810512"/>
            <a:ext cx="502920" cy="502920"/>
          </a:xfrm>
          <a:prstGeom prst="ellipse">
            <a:avLst/>
          </a:prstGeom>
          <a:solidFill>
            <a:srgbClr val="C9C6BA"/>
          </a:solidFill>
          <a:ln w="12700">
            <a:solidFill>
              <a:srgbClr val="C9C6BA"/>
            </a:solidFill>
            <a:prstDash val="solid"/>
          </a:ln>
        </p:spPr>
      </p:sp>
      <p:sp>
        <p:nvSpPr>
          <p:cNvPr id="12" name="Text 10"/>
          <p:cNvSpPr/>
          <p:nvPr/>
        </p:nvSpPr>
        <p:spPr>
          <a:xfrm>
            <a:off x="6556248" y="1810512"/>
            <a:ext cx="502920" cy="502920"/>
          </a:xfrm>
          <a:prstGeom prst="rect">
            <a:avLst/>
          </a:prstGeom>
          <a:noFill/>
          <a:ln/>
        </p:spPr>
        <p:txBody>
          <a:bodyPr wrap="square" lIns="0" tIns="0" rIns="0" bIns="0" rtlCol="0" anchor="ctr"/>
          <a:lstStyle/>
          <a:p>
            <a:pPr algn="ctr" indent="0" marL="0">
              <a:buNone/>
            </a:pPr>
            <a:r>
              <a:rPr lang="en-US" sz="2000" b="1" dirty="0">
                <a:solidFill>
                  <a:srgbClr val="4A4A44"/>
                </a:solidFill>
                <a:latin typeface="Bookman Old Style" pitchFamily="34" charset="0"/>
                <a:ea typeface="Bookman Old Style" pitchFamily="34" charset="-122"/>
                <a:cs typeface="Bookman Old Style" pitchFamily="34" charset="-120"/>
              </a:rPr>
              <a:t>−</a:t>
            </a:r>
            <a:endParaRPr lang="en-US" sz="2000" dirty="0"/>
          </a:p>
        </p:txBody>
      </p:sp>
      <p:sp>
        <p:nvSpPr>
          <p:cNvPr id="13" name="Text 11"/>
          <p:cNvSpPr/>
          <p:nvPr/>
        </p:nvSpPr>
        <p:spPr>
          <a:xfrm>
            <a:off x="7251192" y="1856232"/>
            <a:ext cx="4023360" cy="365760"/>
          </a:xfrm>
          <a:prstGeom prst="rect">
            <a:avLst/>
          </a:prstGeom>
          <a:noFill/>
          <a:ln/>
        </p:spPr>
        <p:txBody>
          <a:bodyPr wrap="square" lIns="0" tIns="0" rIns="0" bIns="0" rtlCol="0" anchor="ctr"/>
          <a:lstStyle/>
          <a:p>
            <a:pPr indent="0" marL="0">
              <a:buNone/>
            </a:pPr>
            <a:r>
              <a:rPr lang="en-US" sz="1900" b="1" dirty="0">
                <a:solidFill>
                  <a:srgbClr val="4A4A44"/>
                </a:solidFill>
                <a:latin typeface="Bookman Old Style" pitchFamily="34" charset="0"/>
                <a:ea typeface="Bookman Old Style" pitchFamily="34" charset="-122"/>
                <a:cs typeface="Bookman Old Style" pitchFamily="34" charset="-120"/>
              </a:rPr>
              <a:t>Spreads: they CANCEL</a:t>
            </a:r>
            <a:endParaRPr lang="en-US" sz="1900" dirty="0"/>
          </a:p>
        </p:txBody>
      </p:sp>
      <p:sp>
        <p:nvSpPr>
          <p:cNvPr id="14" name="Text 12"/>
          <p:cNvSpPr/>
          <p:nvPr/>
        </p:nvSpPr>
        <p:spPr>
          <a:xfrm>
            <a:off x="6556248" y="2450592"/>
            <a:ext cx="4709160" cy="1143000"/>
          </a:xfrm>
          <a:prstGeom prst="rect">
            <a:avLst/>
          </a:prstGeom>
          <a:noFill/>
          <a:ln/>
        </p:spPr>
        <p:txBody>
          <a:bodyPr wrap="square" lIns="0" tIns="0" rIns="0" bIns="0" rtlCol="0" anchor="ctr"/>
          <a:lstStyle/>
          <a:p>
            <a:pPr indent="0" marL="0">
              <a:lnSpc>
                <a:spcPts val="2000"/>
              </a:lnSpc>
              <a:buNone/>
            </a:pPr>
            <a:r>
              <a:rPr lang="en-US" sz="1350" dirty="0">
                <a:solidFill>
                  <a:srgbClr val="1A1A18"/>
                </a:solidFill>
                <a:latin typeface="Calibri" pitchFamily="34" charset="0"/>
                <a:ea typeface="Calibri" pitchFamily="34" charset="-122"/>
                <a:cs typeface="Calibri" pitchFamily="34" charset="-120"/>
              </a:rPr>
              <a:t>A spread is the difference between the two scores, so one team's nudge subtracts the other's. They mostly cancel out and the spread stays fairly priced.</a:t>
            </a:r>
            <a:endParaRPr lang="en-US" sz="1350" dirty="0"/>
          </a:p>
        </p:txBody>
      </p:sp>
      <p:sp>
        <p:nvSpPr>
          <p:cNvPr id="15" name="Text 13"/>
          <p:cNvSpPr/>
          <p:nvPr/>
        </p:nvSpPr>
        <p:spPr>
          <a:xfrm>
            <a:off x="6556248" y="3401568"/>
            <a:ext cx="4709160" cy="274320"/>
          </a:xfrm>
          <a:prstGeom prst="rect">
            <a:avLst/>
          </a:prstGeom>
          <a:noFill/>
          <a:ln/>
        </p:spPr>
        <p:txBody>
          <a:bodyPr wrap="square" lIns="0" tIns="0" rIns="0" bIns="0" rtlCol="0" anchor="ctr"/>
          <a:lstStyle/>
          <a:p>
            <a:pPr indent="0" marL="0">
              <a:buNone/>
            </a:pPr>
            <a:r>
              <a:rPr lang="en-US" sz="1400" b="1" dirty="0">
                <a:solidFill>
                  <a:srgbClr val="6B6B63"/>
                </a:solidFill>
                <a:latin typeface="Calibri" pitchFamily="34" charset="0"/>
                <a:ea typeface="Calibri" pitchFamily="34" charset="-122"/>
                <a:cs typeface="Calibri" pitchFamily="34" charset="-120"/>
              </a:rPr>
              <a:t>→  No edge here.</a:t>
            </a:r>
            <a:endParaRPr lang="en-US" sz="1400" dirty="0"/>
          </a:p>
        </p:txBody>
      </p:sp>
      <p:sp>
        <p:nvSpPr>
          <p:cNvPr id="16" name="Shape 14"/>
          <p:cNvSpPr/>
          <p:nvPr/>
        </p:nvSpPr>
        <p:spPr>
          <a:xfrm>
            <a:off x="640080" y="4069080"/>
            <a:ext cx="10881360" cy="1417320"/>
          </a:xfrm>
          <a:prstGeom prst="roundRect">
            <a:avLst>
              <a:gd name="adj" fmla="val 7742"/>
            </a:avLst>
          </a:prstGeom>
          <a:solidFill>
            <a:srgbClr val="1B3A2F"/>
          </a:solidFill>
          <a:ln w="12700">
            <a:solidFill>
              <a:srgbClr val="1B3A2F"/>
            </a:solidFill>
            <a:prstDash val="solid"/>
          </a:ln>
        </p:spPr>
      </p:sp>
      <p:sp>
        <p:nvSpPr>
          <p:cNvPr id="17" name="Text 15"/>
          <p:cNvSpPr/>
          <p:nvPr/>
        </p:nvSpPr>
        <p:spPr>
          <a:xfrm>
            <a:off x="1005840" y="4279392"/>
            <a:ext cx="10149840" cy="347472"/>
          </a:xfrm>
          <a:prstGeom prst="rect">
            <a:avLst/>
          </a:prstGeom>
          <a:noFill/>
          <a:ln/>
        </p:spPr>
        <p:txBody>
          <a:bodyPr wrap="square" lIns="0" tIns="0" rIns="0" bIns="0" rtlCol="0" anchor="ctr"/>
          <a:lstStyle/>
          <a:p>
            <a:pPr indent="0" marL="0">
              <a:buNone/>
            </a:pPr>
            <a:r>
              <a:rPr lang="en-US" sz="1700" b="1" dirty="0">
                <a:solidFill>
                  <a:srgbClr val="D4A537"/>
                </a:solidFill>
                <a:latin typeface="Bookman Old Style" pitchFamily="34" charset="0"/>
                <a:ea typeface="Bookman Old Style" pitchFamily="34" charset="-122"/>
                <a:cs typeface="Bookman Old Style" pitchFamily="34" charset="-120"/>
              </a:rPr>
              <a:t>We also checked the mirror image — and it isn't there.</a:t>
            </a:r>
            <a:endParaRPr lang="en-US" sz="1700" dirty="0"/>
          </a:p>
        </p:txBody>
      </p:sp>
      <p:sp>
        <p:nvSpPr>
          <p:cNvPr id="18" name="Text 16"/>
          <p:cNvSpPr/>
          <p:nvPr/>
        </p:nvSpPr>
        <p:spPr>
          <a:xfrm>
            <a:off x="1005840" y="4645152"/>
            <a:ext cx="10149840" cy="731520"/>
          </a:xfrm>
          <a:prstGeom prst="rect">
            <a:avLst/>
          </a:prstGeom>
          <a:noFill/>
          <a:ln/>
        </p:spPr>
        <p:txBody>
          <a:bodyPr wrap="square" lIns="0" tIns="0" rIns="0" bIns="0" rtlCol="0" anchor="ctr"/>
          <a:lstStyle/>
          <a:p>
            <a:pPr indent="0" marL="0">
              <a:lnSpc>
                <a:spcPts val="1900"/>
              </a:lnSpc>
              <a:buNone/>
            </a:pPr>
            <a:r>
              <a:rPr lang="en-US" sz="1300" dirty="0">
                <a:solidFill>
                  <a:srgbClr val="A9C0B3"/>
                </a:solidFill>
                <a:latin typeface="Calibri" pitchFamily="34" charset="0"/>
                <a:ea typeface="Calibri" pitchFamily="34" charset="-122"/>
                <a:cs typeface="Calibri" pitchFamily="34" charset="-120"/>
              </a:rPr>
              <a:t>Is there a ceiling on scoring that would make the UNDER cheap in high-scoring games? We tested it directly. There is no such effect. The floor at zero is real; a ceiling is not. That asymmetry is a good sign — a made-up story would have predicted both.</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640080" y="457200"/>
            <a:ext cx="10881360" cy="274320"/>
          </a:xfrm>
          <a:prstGeom prst="rect">
            <a:avLst/>
          </a:prstGeom>
          <a:noFill/>
          <a:ln/>
        </p:spPr>
        <p:txBody>
          <a:bodyPr wrap="square" lIns="0" tIns="0" rIns="0" bIns="0" rtlCol="0" anchor="ctr"/>
          <a:lstStyle/>
          <a:p>
            <a:pPr indent="0" marL="0">
              <a:buNone/>
            </a:pPr>
            <a:r>
              <a:rPr lang="en-US" sz="1200" b="1" spc="200" kern="0" dirty="0">
                <a:solidFill>
                  <a:srgbClr val="2C5F4A"/>
                </a:solidFill>
                <a:latin typeface="Calibri" pitchFamily="34" charset="0"/>
                <a:ea typeface="Calibri" pitchFamily="34" charset="-122"/>
                <a:cs typeface="Calibri" pitchFamily="34" charset="-120"/>
              </a:rPr>
              <a:t>THE EVIDENCE</a:t>
            </a:r>
            <a:endParaRPr lang="en-US" sz="1200" dirty="0"/>
          </a:p>
        </p:txBody>
      </p:sp>
      <p:sp>
        <p:nvSpPr>
          <p:cNvPr id="3" name="Text 1"/>
          <p:cNvSpPr/>
          <p:nvPr/>
        </p:nvSpPr>
        <p:spPr>
          <a:xfrm>
            <a:off x="640080" y="768096"/>
            <a:ext cx="10881360" cy="731520"/>
          </a:xfrm>
          <a:prstGeom prst="rect">
            <a:avLst/>
          </a:prstGeom>
          <a:noFill/>
          <a:ln/>
        </p:spPr>
        <p:txBody>
          <a:bodyPr wrap="square" lIns="0" tIns="0" rIns="0" bIns="0" rtlCol="0" anchor="ctr"/>
          <a:lstStyle/>
          <a:p>
            <a:pPr indent="0" marL="0">
              <a:buNone/>
            </a:pPr>
            <a:r>
              <a:rPr lang="en-US" sz="3400" b="1" dirty="0">
                <a:solidFill>
                  <a:srgbClr val="1B3A2F"/>
                </a:solidFill>
                <a:latin typeface="Bookman Old Style" pitchFamily="34" charset="0"/>
                <a:ea typeface="Bookman Old Style" pitchFamily="34" charset="-122"/>
                <a:cs typeface="Bookman Old Style" pitchFamily="34" charset="-120"/>
              </a:rPr>
              <a:t>Does it actually show up in real games?</a:t>
            </a:r>
            <a:endParaRPr lang="en-US" sz="3400" dirty="0"/>
          </a:p>
        </p:txBody>
      </p:sp>
      <p:pic>
        <p:nvPicPr>
          <p:cNvPr id="4" name="Image 0" descr="C:\Users\mckel\dev\over-zero\docs\figs\bias_vs_overrate.png">    </p:cNvPr>
          <p:cNvPicPr>
            <a:picLocks noChangeAspect="1"/>
          </p:cNvPicPr>
          <p:nvPr/>
        </p:nvPicPr>
        <p:blipFill>
          <a:blip r:embed="rId1"/>
          <a:stretch>
            <a:fillRect/>
          </a:stretch>
        </p:blipFill>
        <p:spPr>
          <a:xfrm>
            <a:off x="2606040" y="1463040"/>
            <a:ext cx="6949440" cy="3557016"/>
          </a:xfrm>
          <a:prstGeom prst="rect">
            <a:avLst/>
          </a:prstGeom>
        </p:spPr>
      </p:pic>
      <p:sp>
        <p:nvSpPr>
          <p:cNvPr id="5" name="Shape 2"/>
          <p:cNvSpPr/>
          <p:nvPr/>
        </p:nvSpPr>
        <p:spPr>
          <a:xfrm>
            <a:off x="640080" y="5138928"/>
            <a:ext cx="10881360" cy="1097280"/>
          </a:xfrm>
          <a:prstGeom prst="roundRect">
            <a:avLst>
              <a:gd name="adj" fmla="val 8333"/>
            </a:avLst>
          </a:prstGeom>
          <a:solidFill>
            <a:srgbClr val="FFFFFF"/>
          </a:solidFill>
          <a:ln w="12700">
            <a:solidFill>
              <a:srgbClr val="E2DFD5"/>
            </a:solidFill>
            <a:prstDash val="solid"/>
          </a:ln>
        </p:spPr>
      </p:sp>
      <p:sp>
        <p:nvSpPr>
          <p:cNvPr id="6" name="Text 3"/>
          <p:cNvSpPr/>
          <p:nvPr/>
        </p:nvSpPr>
        <p:spPr>
          <a:xfrm>
            <a:off x="914400" y="5138928"/>
            <a:ext cx="10332720" cy="1097280"/>
          </a:xfrm>
          <a:prstGeom prst="rect">
            <a:avLst/>
          </a:prstGeom>
          <a:noFill/>
          <a:ln/>
        </p:spPr>
        <p:txBody>
          <a:bodyPr wrap="square" lIns="0" tIns="0" rIns="0" bIns="0" rtlCol="0" anchor="ctr"/>
          <a:lstStyle/>
          <a:p>
            <a:pPr indent="0" marL="0">
              <a:lnSpc>
                <a:spcPts val="1800"/>
              </a:lnSpc>
              <a:buNone/>
            </a:pPr>
            <a:r>
              <a:rPr lang="en-US" sz="1250" b="1" dirty="0">
                <a:solidFill>
                  <a:srgbClr val="2C5F4A"/>
                </a:solidFill>
                <a:latin typeface="Calibri" pitchFamily="34" charset="0"/>
                <a:ea typeface="Calibri" pitchFamily="34" charset="-122"/>
                <a:cs typeface="Calibri" pitchFamily="34" charset="-120"/>
              </a:rPr>
              <a:t>How to read this:  </a:t>
            </a:r>
            <a:pPr indent="0" marL="0">
              <a:lnSpc>
                <a:spcPts val="1800"/>
              </a:lnSpc>
              <a:buNone/>
            </a:pPr>
            <a:r>
              <a:rPr lang="en-US" sz="1250" dirty="0">
                <a:solidFill>
                  <a:srgbClr val="1A1A18"/>
                </a:solidFill>
                <a:latin typeface="Calibri" pitchFamily="34" charset="0"/>
                <a:ea typeface="Calibri" pitchFamily="34" charset="-122"/>
                <a:cs typeface="Calibri" pitchFamily="34" charset="-120"/>
              </a:rPr>
              <a:t>left to right = games where the floor effect should be weakest → strongest. Bottom to top = how often the over actually won. The dots climb, and they cross the red breakeven line right where the theory said they would. The grey bars are uncertainty — smaller groups on the right, so more wobble.</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640080" y="457200"/>
            <a:ext cx="10881360" cy="274320"/>
          </a:xfrm>
          <a:prstGeom prst="rect">
            <a:avLst/>
          </a:prstGeom>
          <a:noFill/>
          <a:ln/>
        </p:spPr>
        <p:txBody>
          <a:bodyPr wrap="square" lIns="0" tIns="0" rIns="0" bIns="0" rtlCol="0" anchor="ctr"/>
          <a:lstStyle/>
          <a:p>
            <a:pPr indent="0" marL="0">
              <a:buNone/>
            </a:pPr>
            <a:r>
              <a:rPr lang="en-US" sz="1200" b="1" spc="200" kern="0" dirty="0">
                <a:solidFill>
                  <a:srgbClr val="2C5F4A"/>
                </a:solidFill>
                <a:latin typeface="Calibri" pitchFamily="34" charset="0"/>
                <a:ea typeface="Calibri" pitchFamily="34" charset="-122"/>
                <a:cs typeface="Calibri" pitchFamily="34" charset="-120"/>
              </a:rPr>
              <a:t>THE EVIDENCE</a:t>
            </a:r>
            <a:endParaRPr lang="en-US" sz="1200" dirty="0"/>
          </a:p>
        </p:txBody>
      </p:sp>
      <p:sp>
        <p:nvSpPr>
          <p:cNvPr id="3" name="Text 1"/>
          <p:cNvSpPr/>
          <p:nvPr/>
        </p:nvSpPr>
        <p:spPr>
          <a:xfrm>
            <a:off x="640080" y="768096"/>
            <a:ext cx="10881360" cy="731520"/>
          </a:xfrm>
          <a:prstGeom prst="rect">
            <a:avLst/>
          </a:prstGeom>
          <a:noFill/>
          <a:ln/>
        </p:spPr>
        <p:txBody>
          <a:bodyPr wrap="square" lIns="0" tIns="0" rIns="0" bIns="0" rtlCol="0" anchor="ctr"/>
          <a:lstStyle/>
          <a:p>
            <a:pPr indent="0" marL="0">
              <a:buNone/>
            </a:pPr>
            <a:r>
              <a:rPr lang="en-US" sz="3400" b="1" dirty="0">
                <a:solidFill>
                  <a:srgbClr val="1B3A2F"/>
                </a:solidFill>
                <a:latin typeface="Bookman Old Style" pitchFamily="34" charset="0"/>
                <a:ea typeface="Bookman Old Style" pitchFamily="34" charset="-122"/>
                <a:cs typeface="Bookman Old Style" pitchFamily="34" charset="-120"/>
              </a:rPr>
              <a:t>The honest test: no peeking at the future</a:t>
            </a:r>
            <a:endParaRPr lang="en-US" sz="3400" dirty="0"/>
          </a:p>
        </p:txBody>
      </p:sp>
      <p:sp>
        <p:nvSpPr>
          <p:cNvPr id="4" name="Text 2"/>
          <p:cNvSpPr/>
          <p:nvPr/>
        </p:nvSpPr>
        <p:spPr>
          <a:xfrm>
            <a:off x="640080" y="1371600"/>
            <a:ext cx="10881360" cy="566928"/>
          </a:xfrm>
          <a:prstGeom prst="rect">
            <a:avLst/>
          </a:prstGeom>
          <a:noFill/>
          <a:ln/>
        </p:spPr>
        <p:txBody>
          <a:bodyPr wrap="square" lIns="0" tIns="0" rIns="0" bIns="0" rtlCol="0" anchor="ctr"/>
          <a:lstStyle/>
          <a:p>
            <a:pPr indent="0" marL="0">
              <a:lnSpc>
                <a:spcPts val="2200"/>
              </a:lnSpc>
              <a:buNone/>
            </a:pPr>
            <a:r>
              <a:rPr lang="en-US" sz="1500" dirty="0">
                <a:solidFill>
                  <a:srgbClr val="1A1A18"/>
                </a:solidFill>
                <a:latin typeface="Calibri" pitchFamily="34" charset="0"/>
                <a:ea typeface="Calibri" pitchFamily="34" charset="-122"/>
                <a:cs typeface="Calibri" pitchFamily="34" charset="-120"/>
              </a:rPr>
              <a:t>It's easy to look brilliant on games you already know the outcome of. So the model was retrained each year using only seasons that came before, then made to bet the next season blind.</a:t>
            </a:r>
            <a:endParaRPr lang="en-US" sz="1500" dirty="0"/>
          </a:p>
        </p:txBody>
      </p:sp>
      <p:pic>
        <p:nvPicPr>
          <p:cNvPr id="5" name="Image 0" descr="C:\Users\mckel\dev\over-zero\docs\figs\walkforward_seasons.png">    </p:cNvPr>
          <p:cNvPicPr>
            <a:picLocks noChangeAspect="1"/>
          </p:cNvPicPr>
          <p:nvPr/>
        </p:nvPicPr>
        <p:blipFill>
          <a:blip r:embed="rId1"/>
          <a:stretch>
            <a:fillRect/>
          </a:stretch>
        </p:blipFill>
        <p:spPr>
          <a:xfrm>
            <a:off x="2788920" y="2011680"/>
            <a:ext cx="6583680" cy="3364992"/>
          </a:xfrm>
          <a:prstGeom prst="rect">
            <a:avLst/>
          </a:prstGeom>
        </p:spPr>
      </p:pic>
      <p:sp>
        <p:nvSpPr>
          <p:cNvPr id="6" name="Shape 3"/>
          <p:cNvSpPr/>
          <p:nvPr/>
        </p:nvSpPr>
        <p:spPr>
          <a:xfrm>
            <a:off x="640080" y="5504688"/>
            <a:ext cx="3383280" cy="914400"/>
          </a:xfrm>
          <a:prstGeom prst="roundRect">
            <a:avLst>
              <a:gd name="adj" fmla="val 10000"/>
            </a:avLst>
          </a:prstGeom>
          <a:solidFill>
            <a:srgbClr val="FFFFFF"/>
          </a:solidFill>
          <a:ln w="12700">
            <a:solidFill>
              <a:srgbClr val="E2DFD5"/>
            </a:solidFill>
            <a:prstDash val="solid"/>
          </a:ln>
        </p:spPr>
      </p:sp>
      <p:sp>
        <p:nvSpPr>
          <p:cNvPr id="7" name="Text 4"/>
          <p:cNvSpPr/>
          <p:nvPr/>
        </p:nvSpPr>
        <p:spPr>
          <a:xfrm>
            <a:off x="896112" y="5596128"/>
            <a:ext cx="2880360" cy="457200"/>
          </a:xfrm>
          <a:prstGeom prst="rect">
            <a:avLst/>
          </a:prstGeom>
          <a:noFill/>
          <a:ln/>
        </p:spPr>
        <p:txBody>
          <a:bodyPr wrap="square" lIns="0" tIns="0" rIns="0" bIns="0" rtlCol="0" anchor="ctr"/>
          <a:lstStyle/>
          <a:p>
            <a:pPr indent="0" marL="0">
              <a:buNone/>
            </a:pPr>
            <a:r>
              <a:rPr lang="en-US" sz="2400" b="1" dirty="0">
                <a:solidFill>
                  <a:srgbClr val="1B3A2F"/>
                </a:solidFill>
                <a:latin typeface="Bookman Old Style" pitchFamily="34" charset="0"/>
                <a:ea typeface="Bookman Old Style" pitchFamily="34" charset="-122"/>
                <a:cs typeface="Bookman Old Style" pitchFamily="34" charset="-120"/>
              </a:rPr>
              <a:t>9 of 10</a:t>
            </a:r>
            <a:endParaRPr lang="en-US" sz="2400" dirty="0"/>
          </a:p>
        </p:txBody>
      </p:sp>
      <p:sp>
        <p:nvSpPr>
          <p:cNvPr id="8" name="Text 5"/>
          <p:cNvSpPr/>
          <p:nvPr/>
        </p:nvSpPr>
        <p:spPr>
          <a:xfrm>
            <a:off x="896112" y="6035040"/>
            <a:ext cx="2880360" cy="274320"/>
          </a:xfrm>
          <a:prstGeom prst="rect">
            <a:avLst/>
          </a:prstGeom>
          <a:noFill/>
          <a:ln/>
        </p:spPr>
        <p:txBody>
          <a:bodyPr wrap="square" lIns="0" tIns="0" rIns="0" bIns="0" rtlCol="0" anchor="ctr"/>
          <a:lstStyle/>
          <a:p>
            <a:pPr indent="0" marL="0">
              <a:buNone/>
            </a:pPr>
            <a:r>
              <a:rPr lang="en-US" sz="1200" dirty="0">
                <a:solidFill>
                  <a:srgbClr val="6B6B63"/>
                </a:solidFill>
                <a:latin typeface="Calibri" pitchFamily="34" charset="0"/>
                <a:ea typeface="Calibri" pitchFamily="34" charset="-122"/>
                <a:cs typeface="Calibri" pitchFamily="34" charset="-120"/>
              </a:rPr>
              <a:t>seasons profitable</a:t>
            </a:r>
            <a:endParaRPr lang="en-US" sz="1200" dirty="0"/>
          </a:p>
        </p:txBody>
      </p:sp>
      <p:sp>
        <p:nvSpPr>
          <p:cNvPr id="9" name="Shape 6"/>
          <p:cNvSpPr/>
          <p:nvPr/>
        </p:nvSpPr>
        <p:spPr>
          <a:xfrm>
            <a:off x="4361688" y="5504688"/>
            <a:ext cx="3383280" cy="914400"/>
          </a:xfrm>
          <a:prstGeom prst="roundRect">
            <a:avLst>
              <a:gd name="adj" fmla="val 10000"/>
            </a:avLst>
          </a:prstGeom>
          <a:solidFill>
            <a:srgbClr val="FFFFFF"/>
          </a:solidFill>
          <a:ln w="12700">
            <a:solidFill>
              <a:srgbClr val="E2DFD5"/>
            </a:solidFill>
            <a:prstDash val="solid"/>
          </a:ln>
        </p:spPr>
      </p:sp>
      <p:sp>
        <p:nvSpPr>
          <p:cNvPr id="10" name="Text 7"/>
          <p:cNvSpPr/>
          <p:nvPr/>
        </p:nvSpPr>
        <p:spPr>
          <a:xfrm>
            <a:off x="4617720" y="5596128"/>
            <a:ext cx="2880360" cy="457200"/>
          </a:xfrm>
          <a:prstGeom prst="rect">
            <a:avLst/>
          </a:prstGeom>
          <a:noFill/>
          <a:ln/>
        </p:spPr>
        <p:txBody>
          <a:bodyPr wrap="square" lIns="0" tIns="0" rIns="0" bIns="0" rtlCol="0" anchor="ctr"/>
          <a:lstStyle/>
          <a:p>
            <a:pPr indent="0" marL="0">
              <a:buNone/>
            </a:pPr>
            <a:r>
              <a:rPr lang="en-US" sz="2400" b="1" dirty="0">
                <a:solidFill>
                  <a:srgbClr val="1B3A2F"/>
                </a:solidFill>
                <a:latin typeface="Bookman Old Style" pitchFamily="34" charset="0"/>
                <a:ea typeface="Bookman Old Style" pitchFamily="34" charset="-122"/>
                <a:cs typeface="Bookman Old Style" pitchFamily="34" charset="-120"/>
              </a:rPr>
              <a:t>56.8%</a:t>
            </a:r>
            <a:endParaRPr lang="en-US" sz="2400" dirty="0"/>
          </a:p>
        </p:txBody>
      </p:sp>
      <p:sp>
        <p:nvSpPr>
          <p:cNvPr id="11" name="Text 8"/>
          <p:cNvSpPr/>
          <p:nvPr/>
        </p:nvSpPr>
        <p:spPr>
          <a:xfrm>
            <a:off x="4617720" y="6035040"/>
            <a:ext cx="2880360" cy="274320"/>
          </a:xfrm>
          <a:prstGeom prst="rect">
            <a:avLst/>
          </a:prstGeom>
          <a:noFill/>
          <a:ln/>
        </p:spPr>
        <p:txBody>
          <a:bodyPr wrap="square" lIns="0" tIns="0" rIns="0" bIns="0" rtlCol="0" anchor="ctr"/>
          <a:lstStyle/>
          <a:p>
            <a:pPr indent="0" marL="0">
              <a:buNone/>
            </a:pPr>
            <a:r>
              <a:rPr lang="en-US" sz="1200" dirty="0">
                <a:solidFill>
                  <a:srgbClr val="6B6B63"/>
                </a:solidFill>
                <a:latin typeface="Calibri" pitchFamily="34" charset="0"/>
                <a:ea typeface="Calibri" pitchFamily="34" charset="-122"/>
                <a:cs typeface="Calibri" pitchFamily="34" charset="-120"/>
              </a:rPr>
              <a:t>won overall, 681 bets</a:t>
            </a:r>
            <a:endParaRPr lang="en-US" sz="1200" dirty="0"/>
          </a:p>
        </p:txBody>
      </p:sp>
      <p:sp>
        <p:nvSpPr>
          <p:cNvPr id="12" name="Shape 9"/>
          <p:cNvSpPr/>
          <p:nvPr/>
        </p:nvSpPr>
        <p:spPr>
          <a:xfrm>
            <a:off x="8083296" y="5504688"/>
            <a:ext cx="3383280" cy="914400"/>
          </a:xfrm>
          <a:prstGeom prst="roundRect">
            <a:avLst>
              <a:gd name="adj" fmla="val 10000"/>
            </a:avLst>
          </a:prstGeom>
          <a:solidFill>
            <a:srgbClr val="FFFFFF"/>
          </a:solidFill>
          <a:ln w="12700">
            <a:solidFill>
              <a:srgbClr val="E2DFD5"/>
            </a:solidFill>
            <a:prstDash val="solid"/>
          </a:ln>
        </p:spPr>
      </p:sp>
      <p:sp>
        <p:nvSpPr>
          <p:cNvPr id="13" name="Text 10"/>
          <p:cNvSpPr/>
          <p:nvPr/>
        </p:nvSpPr>
        <p:spPr>
          <a:xfrm>
            <a:off x="8339328" y="5596128"/>
            <a:ext cx="2880360" cy="457200"/>
          </a:xfrm>
          <a:prstGeom prst="rect">
            <a:avLst/>
          </a:prstGeom>
          <a:noFill/>
          <a:ln/>
        </p:spPr>
        <p:txBody>
          <a:bodyPr wrap="square" lIns="0" tIns="0" rIns="0" bIns="0" rtlCol="0" anchor="ctr"/>
          <a:lstStyle/>
          <a:p>
            <a:pPr indent="0" marL="0">
              <a:buNone/>
            </a:pPr>
            <a:r>
              <a:rPr lang="en-US" sz="2400" b="1" dirty="0">
                <a:solidFill>
                  <a:srgbClr val="1B3A2F"/>
                </a:solidFill>
                <a:latin typeface="Bookman Old Style" pitchFamily="34" charset="0"/>
                <a:ea typeface="Bookman Old Style" pitchFamily="34" charset="-122"/>
                <a:cs typeface="Bookman Old Style" pitchFamily="34" charset="-120"/>
              </a:rPr>
              <a:t>52.4%</a:t>
            </a:r>
            <a:endParaRPr lang="en-US" sz="2400" dirty="0"/>
          </a:p>
        </p:txBody>
      </p:sp>
      <p:sp>
        <p:nvSpPr>
          <p:cNvPr id="14" name="Text 11"/>
          <p:cNvSpPr/>
          <p:nvPr/>
        </p:nvSpPr>
        <p:spPr>
          <a:xfrm>
            <a:off x="8339328" y="6035040"/>
            <a:ext cx="2880360" cy="274320"/>
          </a:xfrm>
          <a:prstGeom prst="rect">
            <a:avLst/>
          </a:prstGeom>
          <a:noFill/>
          <a:ln/>
        </p:spPr>
        <p:txBody>
          <a:bodyPr wrap="square" lIns="0" tIns="0" rIns="0" bIns="0" rtlCol="0" anchor="ctr"/>
          <a:lstStyle/>
          <a:p>
            <a:pPr indent="0" marL="0">
              <a:buNone/>
            </a:pPr>
            <a:r>
              <a:rPr lang="en-US" sz="1200" dirty="0">
                <a:solidFill>
                  <a:srgbClr val="6B6B63"/>
                </a:solidFill>
                <a:latin typeface="Calibri" pitchFamily="34" charset="0"/>
                <a:ea typeface="Calibri" pitchFamily="34" charset="-122"/>
                <a:cs typeface="Calibri" pitchFamily="34" charset="-120"/>
              </a:rPr>
              <a:t>was the bar to clear</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640080" y="457200"/>
            <a:ext cx="10881360" cy="274320"/>
          </a:xfrm>
          <a:prstGeom prst="rect">
            <a:avLst/>
          </a:prstGeom>
          <a:noFill/>
          <a:ln/>
        </p:spPr>
        <p:txBody>
          <a:bodyPr wrap="square" lIns="0" tIns="0" rIns="0" bIns="0" rtlCol="0" anchor="ctr"/>
          <a:lstStyle/>
          <a:p>
            <a:pPr indent="0" marL="0">
              <a:buNone/>
            </a:pPr>
            <a:r>
              <a:rPr lang="en-US" sz="1200" b="1" spc="200" kern="0" dirty="0">
                <a:solidFill>
                  <a:srgbClr val="2C5F4A"/>
                </a:solidFill>
                <a:latin typeface="Calibri" pitchFamily="34" charset="0"/>
                <a:ea typeface="Calibri" pitchFamily="34" charset="-122"/>
                <a:cs typeface="Calibri" pitchFamily="34" charset="-120"/>
              </a:rPr>
              <a:t>THE EVIDENCE</a:t>
            </a:r>
            <a:endParaRPr lang="en-US" sz="1200" dirty="0"/>
          </a:p>
        </p:txBody>
      </p:sp>
      <p:sp>
        <p:nvSpPr>
          <p:cNvPr id="3" name="Text 1"/>
          <p:cNvSpPr/>
          <p:nvPr/>
        </p:nvSpPr>
        <p:spPr>
          <a:xfrm>
            <a:off x="640080" y="768096"/>
            <a:ext cx="10881360" cy="731520"/>
          </a:xfrm>
          <a:prstGeom prst="rect">
            <a:avLst/>
          </a:prstGeom>
          <a:noFill/>
          <a:ln/>
        </p:spPr>
        <p:txBody>
          <a:bodyPr wrap="square" lIns="0" tIns="0" rIns="0" bIns="0" rtlCol="0" anchor="ctr"/>
          <a:lstStyle/>
          <a:p>
            <a:pPr indent="0" marL="0">
              <a:buNone/>
            </a:pPr>
            <a:r>
              <a:rPr lang="en-US" sz="3400" b="1" dirty="0">
                <a:solidFill>
                  <a:srgbClr val="1B3A2F"/>
                </a:solidFill>
                <a:latin typeface="Bookman Old Style" pitchFamily="34" charset="0"/>
                <a:ea typeface="Bookman Old Style" pitchFamily="34" charset="-122"/>
                <a:cs typeface="Bookman Old Style" pitchFamily="34" charset="-120"/>
              </a:rPr>
              <a:t>What that looked like as money</a:t>
            </a:r>
            <a:endParaRPr lang="en-US" sz="3400" dirty="0"/>
          </a:p>
        </p:txBody>
      </p:sp>
      <p:pic>
        <p:nvPicPr>
          <p:cNvPr id="4" name="Image 0" descr="C:\Users\mckel\dev\over-zero\docs\figs\cumulative_units.png">    </p:cNvPr>
          <p:cNvPicPr>
            <a:picLocks noChangeAspect="1"/>
          </p:cNvPicPr>
          <p:nvPr/>
        </p:nvPicPr>
        <p:blipFill>
          <a:blip r:embed="rId1"/>
          <a:stretch>
            <a:fillRect/>
          </a:stretch>
        </p:blipFill>
        <p:spPr>
          <a:xfrm>
            <a:off x="2606040" y="1481328"/>
            <a:ext cx="6949440" cy="3557016"/>
          </a:xfrm>
          <a:prstGeom prst="rect">
            <a:avLst/>
          </a:prstGeom>
        </p:spPr>
      </p:pic>
      <p:sp>
        <p:nvSpPr>
          <p:cNvPr id="5" name="Shape 2"/>
          <p:cNvSpPr/>
          <p:nvPr/>
        </p:nvSpPr>
        <p:spPr>
          <a:xfrm>
            <a:off x="640080" y="5193792"/>
            <a:ext cx="5349240" cy="1051560"/>
          </a:xfrm>
          <a:prstGeom prst="roundRect">
            <a:avLst>
              <a:gd name="adj" fmla="val 8696"/>
            </a:avLst>
          </a:prstGeom>
          <a:solidFill>
            <a:srgbClr val="FFFFFF"/>
          </a:solidFill>
          <a:ln w="12700">
            <a:solidFill>
              <a:srgbClr val="E2DFD5"/>
            </a:solidFill>
            <a:prstDash val="solid"/>
          </a:ln>
        </p:spPr>
      </p:sp>
      <p:sp>
        <p:nvSpPr>
          <p:cNvPr id="6" name="Text 3"/>
          <p:cNvSpPr/>
          <p:nvPr/>
        </p:nvSpPr>
        <p:spPr>
          <a:xfrm>
            <a:off x="914400" y="5193792"/>
            <a:ext cx="4846320" cy="1051560"/>
          </a:xfrm>
          <a:prstGeom prst="rect">
            <a:avLst/>
          </a:prstGeom>
          <a:noFill/>
          <a:ln/>
        </p:spPr>
        <p:txBody>
          <a:bodyPr wrap="square" lIns="0" tIns="0" rIns="0" bIns="0" rtlCol="0" anchor="ctr"/>
          <a:lstStyle/>
          <a:p>
            <a:pPr indent="0" marL="0">
              <a:lnSpc>
                <a:spcPts val="1700"/>
              </a:lnSpc>
              <a:buNone/>
            </a:pPr>
            <a:r>
              <a:rPr lang="en-US" sz="1200" b="1" dirty="0">
                <a:solidFill>
                  <a:srgbClr val="2C5F4A"/>
                </a:solidFill>
                <a:latin typeface="Calibri" pitchFamily="34" charset="0"/>
                <a:ea typeface="Calibri" pitchFamily="34" charset="-122"/>
                <a:cs typeface="Calibri" pitchFamily="34" charset="-120"/>
              </a:rPr>
              <a:t>A “unit” is one standard bet.  </a:t>
            </a:r>
            <a:pPr indent="0" marL="0">
              <a:lnSpc>
                <a:spcPts val="1700"/>
              </a:lnSpc>
              <a:buNone/>
            </a:pPr>
            <a:r>
              <a:rPr lang="en-US" sz="1200" dirty="0">
                <a:solidFill>
                  <a:srgbClr val="1A1A18"/>
                </a:solidFill>
                <a:latin typeface="Calibri" pitchFamily="34" charset="0"/>
                <a:ea typeface="Calibri" pitchFamily="34" charset="-122"/>
                <a:cs typeface="Calibri" pitchFamily="34" charset="-120"/>
              </a:rPr>
              <a:t>If a unit is $100, the blue line finished about +$5,800 across ten seasons and 681 bets.</a:t>
            </a:r>
            <a:endParaRPr lang="en-US" sz="1200" dirty="0"/>
          </a:p>
        </p:txBody>
      </p:sp>
      <p:sp>
        <p:nvSpPr>
          <p:cNvPr id="7" name="Shape 4"/>
          <p:cNvSpPr/>
          <p:nvPr/>
        </p:nvSpPr>
        <p:spPr>
          <a:xfrm>
            <a:off x="6172200" y="5193792"/>
            <a:ext cx="5349240" cy="1051560"/>
          </a:xfrm>
          <a:prstGeom prst="roundRect">
            <a:avLst>
              <a:gd name="adj" fmla="val 8696"/>
            </a:avLst>
          </a:prstGeom>
          <a:solidFill>
            <a:srgbClr val="FFFFFF"/>
          </a:solidFill>
          <a:ln w="12700">
            <a:solidFill>
              <a:srgbClr val="E2DFD5"/>
            </a:solidFill>
            <a:prstDash val="solid"/>
          </a:ln>
        </p:spPr>
      </p:sp>
      <p:sp>
        <p:nvSpPr>
          <p:cNvPr id="8" name="Text 5"/>
          <p:cNvSpPr/>
          <p:nvPr/>
        </p:nvSpPr>
        <p:spPr>
          <a:xfrm>
            <a:off x="6446520" y="5193792"/>
            <a:ext cx="4846320" cy="1051560"/>
          </a:xfrm>
          <a:prstGeom prst="rect">
            <a:avLst/>
          </a:prstGeom>
          <a:noFill/>
          <a:ln/>
        </p:spPr>
        <p:txBody>
          <a:bodyPr wrap="square" lIns="0" tIns="0" rIns="0" bIns="0" rtlCol="0" anchor="ctr"/>
          <a:lstStyle/>
          <a:p>
            <a:pPr indent="0" marL="0">
              <a:lnSpc>
                <a:spcPts val="1700"/>
              </a:lnSpc>
              <a:buNone/>
            </a:pPr>
            <a:r>
              <a:rPr lang="en-US" sz="1200" b="1" dirty="0">
                <a:solidFill>
                  <a:srgbClr val="2C5F4A"/>
                </a:solidFill>
                <a:latin typeface="Calibri" pitchFamily="34" charset="0"/>
                <a:ea typeface="Calibri" pitchFamily="34" charset="-122"/>
                <a:cs typeface="Calibri" pitchFamily="34" charset="-120"/>
              </a:rPr>
              <a:t>Note the flat start.  </a:t>
            </a:r>
            <a:pPr indent="0" marL="0">
              <a:lnSpc>
                <a:spcPts val="1700"/>
              </a:lnSpc>
              <a:buNone/>
            </a:pPr>
            <a:r>
              <a:rPr lang="en-US" sz="1200" dirty="0">
                <a:solidFill>
                  <a:srgbClr val="1A1A18"/>
                </a:solidFill>
                <a:latin typeface="Calibri" pitchFamily="34" charset="0"/>
                <a:ea typeface="Calibri" pitchFamily="34" charset="-122"/>
                <a:cs typeface="Calibri" pitchFamily="34" charset="-120"/>
              </a:rPr>
              <a:t>Two years of going nowhere before it climbed. A real edge does not feel like a winning streak.</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B3A2F"/>
        </a:solidFill>
      </p:bgPr>
    </p:bg>
    <p:spTree>
      <p:nvGrpSpPr>
        <p:cNvPr id="1" name=""/>
        <p:cNvGrpSpPr/>
        <p:nvPr/>
      </p:nvGrpSpPr>
      <p:grpSpPr>
        <a:xfrm>
          <a:off x="0" y="0"/>
          <a:ext cx="0" cy="0"/>
          <a:chOff x="0" y="0"/>
          <a:chExt cx="0" cy="0"/>
        </a:xfrm>
      </p:grpSpPr>
      <p:sp>
        <p:nvSpPr>
          <p:cNvPr id="2" name="Text 0"/>
          <p:cNvSpPr/>
          <p:nvPr/>
        </p:nvSpPr>
        <p:spPr>
          <a:xfrm>
            <a:off x="640080" y="475488"/>
            <a:ext cx="10881360" cy="274320"/>
          </a:xfrm>
          <a:prstGeom prst="rect">
            <a:avLst/>
          </a:prstGeom>
          <a:noFill/>
          <a:ln/>
        </p:spPr>
        <p:txBody>
          <a:bodyPr wrap="square" lIns="0" tIns="0" rIns="0" bIns="0" rtlCol="0" anchor="ctr"/>
          <a:lstStyle/>
          <a:p>
            <a:pPr indent="0" marL="0">
              <a:buNone/>
            </a:pPr>
            <a:r>
              <a:rPr lang="en-US" sz="1200" b="1" spc="200" kern="0" dirty="0">
                <a:solidFill>
                  <a:srgbClr val="D4A537"/>
                </a:solidFill>
                <a:latin typeface="Calibri" pitchFamily="34" charset="0"/>
                <a:ea typeface="Calibri" pitchFamily="34" charset="-122"/>
                <a:cs typeface="Calibri" pitchFamily="34" charset="-120"/>
              </a:rPr>
              <a:t>USING IT</a:t>
            </a:r>
            <a:endParaRPr lang="en-US" sz="1200" dirty="0"/>
          </a:p>
        </p:txBody>
      </p:sp>
      <p:sp>
        <p:nvSpPr>
          <p:cNvPr id="3" name="Text 1"/>
          <p:cNvSpPr/>
          <p:nvPr/>
        </p:nvSpPr>
        <p:spPr>
          <a:xfrm>
            <a:off x="640080" y="786384"/>
            <a:ext cx="10881360" cy="868680"/>
          </a:xfrm>
          <a:prstGeom prst="rect">
            <a:avLst/>
          </a:prstGeom>
          <a:noFill/>
          <a:ln/>
        </p:spPr>
        <p:txBody>
          <a:bodyPr wrap="square" lIns="0" tIns="0" rIns="0" bIns="0" rtlCol="0" anchor="ctr"/>
          <a:lstStyle/>
          <a:p>
            <a:pPr indent="0" marL="0">
              <a:buNone/>
            </a:pPr>
            <a:r>
              <a:rPr lang="en-US" sz="3800" b="1" dirty="0">
                <a:solidFill>
                  <a:srgbClr val="FFFFFF"/>
                </a:solidFill>
                <a:latin typeface="Bookman Old Style" pitchFamily="34" charset="0"/>
                <a:ea typeface="Bookman Old Style" pitchFamily="34" charset="-122"/>
                <a:cs typeface="Bookman Old Style" pitchFamily="34" charset="-120"/>
              </a:rPr>
              <a:t>Which games qualify?</a:t>
            </a:r>
            <a:endParaRPr lang="en-US" sz="3800" dirty="0"/>
          </a:p>
        </p:txBody>
      </p:sp>
      <p:sp>
        <p:nvSpPr>
          <p:cNvPr id="4" name="Shape 2"/>
          <p:cNvSpPr/>
          <p:nvPr/>
        </p:nvSpPr>
        <p:spPr>
          <a:xfrm>
            <a:off x="640080" y="1481328"/>
            <a:ext cx="10881360" cy="868680"/>
          </a:xfrm>
          <a:prstGeom prst="roundRect">
            <a:avLst>
              <a:gd name="adj" fmla="val 10526"/>
            </a:avLst>
          </a:prstGeom>
          <a:solidFill>
            <a:srgbClr val="D4A537"/>
          </a:solidFill>
          <a:ln w="12700">
            <a:solidFill>
              <a:srgbClr val="D4A537"/>
            </a:solidFill>
            <a:prstDash val="solid"/>
          </a:ln>
        </p:spPr>
      </p:sp>
      <p:sp>
        <p:nvSpPr>
          <p:cNvPr id="5" name="Text 3"/>
          <p:cNvSpPr/>
          <p:nvPr/>
        </p:nvSpPr>
        <p:spPr>
          <a:xfrm>
            <a:off x="1005840" y="1481328"/>
            <a:ext cx="10149840" cy="868680"/>
          </a:xfrm>
          <a:prstGeom prst="rect">
            <a:avLst/>
          </a:prstGeom>
          <a:noFill/>
          <a:ln/>
        </p:spPr>
        <p:txBody>
          <a:bodyPr wrap="square" lIns="0" tIns="0" rIns="0" bIns="0" rtlCol="0" anchor="ctr"/>
          <a:lstStyle/>
          <a:p>
            <a:pPr indent="0" marL="0">
              <a:buNone/>
            </a:pPr>
            <a:r>
              <a:rPr lang="en-US" sz="2100" b="1" dirty="0">
                <a:solidFill>
                  <a:srgbClr val="5C4611"/>
                </a:solidFill>
                <a:latin typeface="Bookman Old Style" pitchFamily="34" charset="0"/>
                <a:ea typeface="Bookman Old Style" pitchFamily="34" charset="-122"/>
                <a:cs typeface="Bookman Old Style" pitchFamily="34" charset="-120"/>
              </a:rPr>
              <a:t>The rule of thumb:   </a:t>
            </a:r>
            <a:pPr indent="0" marL="0">
              <a:buNone/>
            </a:pPr>
            <a:r>
              <a:rPr lang="en-US" sz="2100" b="1" dirty="0">
                <a:solidFill>
                  <a:srgbClr val="1B3A2F"/>
                </a:solidFill>
                <a:latin typeface="Bookman Old Style" pitchFamily="34" charset="0"/>
                <a:ea typeface="Bookman Old Style" pitchFamily="34" charset="-122"/>
                <a:cs typeface="Bookman Old Style" pitchFamily="34" charset="-120"/>
              </a:rPr>
              <a:t>( total − spread ) ÷ 2   is about 10 or less</a:t>
            </a:r>
            <a:endParaRPr lang="en-US" sz="2100" dirty="0"/>
          </a:p>
        </p:txBody>
      </p:sp>
      <p:sp>
        <p:nvSpPr>
          <p:cNvPr id="6" name="Text 4"/>
          <p:cNvSpPr/>
          <p:nvPr/>
        </p:nvSpPr>
        <p:spPr>
          <a:xfrm>
            <a:off x="640080" y="2487168"/>
            <a:ext cx="10881360" cy="365760"/>
          </a:xfrm>
          <a:prstGeom prst="rect">
            <a:avLst/>
          </a:prstGeom>
          <a:noFill/>
          <a:ln/>
        </p:spPr>
        <p:txBody>
          <a:bodyPr wrap="square" lIns="0" tIns="0" rIns="0" bIns="0" rtlCol="0" anchor="ctr"/>
          <a:lstStyle/>
          <a:p>
            <a:pPr indent="0" marL="0">
              <a:buNone/>
            </a:pPr>
            <a:r>
              <a:rPr lang="en-US" sz="1400" dirty="0">
                <a:solidFill>
                  <a:srgbClr val="9FB8A9"/>
                </a:solidFill>
                <a:latin typeface="Calibri" pitchFamily="34" charset="0"/>
                <a:ea typeface="Calibri" pitchFamily="34" charset="-122"/>
                <a:cs typeface="Calibri" pitchFamily="34" charset="-120"/>
              </a:rPr>
              <a:t>That arithmetic estimates the underdog's expected points. When it lands near 10 or below, the floor effect is big enough to bet.</a:t>
            </a:r>
            <a:endParaRPr lang="en-US" sz="1400" dirty="0"/>
          </a:p>
        </p:txBody>
      </p:sp>
      <p:sp>
        <p:nvSpPr>
          <p:cNvPr id="7" name="Text 5"/>
          <p:cNvSpPr/>
          <p:nvPr/>
        </p:nvSpPr>
        <p:spPr>
          <a:xfrm>
            <a:off x="640080" y="2944368"/>
            <a:ext cx="2011680" cy="274320"/>
          </a:xfrm>
          <a:prstGeom prst="rect">
            <a:avLst/>
          </a:prstGeom>
          <a:noFill/>
          <a:ln/>
        </p:spPr>
        <p:txBody>
          <a:bodyPr wrap="square" lIns="0" tIns="0" rIns="0" bIns="0" rtlCol="0" anchor="ctr"/>
          <a:lstStyle/>
          <a:p>
            <a:pPr algn="ctr" indent="0" marL="0">
              <a:buNone/>
            </a:pPr>
            <a:r>
              <a:rPr lang="en-US" sz="1150" b="1" spc="100" kern="0" dirty="0">
                <a:solidFill>
                  <a:srgbClr val="7E9488"/>
                </a:solidFill>
                <a:latin typeface="Calibri" pitchFamily="34" charset="0"/>
                <a:ea typeface="Calibri" pitchFamily="34" charset="-122"/>
                <a:cs typeface="Calibri" pitchFamily="34" charset="-120"/>
              </a:rPr>
              <a:t>Spread</a:t>
            </a:r>
            <a:endParaRPr lang="en-US" sz="1150" dirty="0"/>
          </a:p>
        </p:txBody>
      </p:sp>
      <p:sp>
        <p:nvSpPr>
          <p:cNvPr id="8" name="Text 6"/>
          <p:cNvSpPr/>
          <p:nvPr/>
        </p:nvSpPr>
        <p:spPr>
          <a:xfrm>
            <a:off x="2651760" y="2944368"/>
            <a:ext cx="2011680" cy="274320"/>
          </a:xfrm>
          <a:prstGeom prst="rect">
            <a:avLst/>
          </a:prstGeom>
          <a:noFill/>
          <a:ln/>
        </p:spPr>
        <p:txBody>
          <a:bodyPr wrap="square" lIns="0" tIns="0" rIns="0" bIns="0" rtlCol="0" anchor="ctr"/>
          <a:lstStyle/>
          <a:p>
            <a:pPr algn="ctr" indent="0" marL="0">
              <a:buNone/>
            </a:pPr>
            <a:r>
              <a:rPr lang="en-US" sz="1150" b="1" spc="100" kern="0" dirty="0">
                <a:solidFill>
                  <a:srgbClr val="7E9488"/>
                </a:solidFill>
                <a:latin typeface="Calibri" pitchFamily="34" charset="0"/>
                <a:ea typeface="Calibri" pitchFamily="34" charset="-122"/>
                <a:cs typeface="Calibri" pitchFamily="34" charset="-120"/>
              </a:rPr>
              <a:t>Total</a:t>
            </a:r>
            <a:endParaRPr lang="en-US" sz="1150" dirty="0"/>
          </a:p>
        </p:txBody>
      </p:sp>
      <p:sp>
        <p:nvSpPr>
          <p:cNvPr id="9" name="Text 7"/>
          <p:cNvSpPr/>
          <p:nvPr/>
        </p:nvSpPr>
        <p:spPr>
          <a:xfrm>
            <a:off x="4663440" y="2944368"/>
            <a:ext cx="2926080" cy="274320"/>
          </a:xfrm>
          <a:prstGeom prst="rect">
            <a:avLst/>
          </a:prstGeom>
          <a:noFill/>
          <a:ln/>
        </p:spPr>
        <p:txBody>
          <a:bodyPr wrap="square" lIns="0" tIns="0" rIns="0" bIns="0" rtlCol="0" anchor="ctr"/>
          <a:lstStyle/>
          <a:p>
            <a:pPr algn="ctr" indent="0" marL="0">
              <a:buNone/>
            </a:pPr>
            <a:r>
              <a:rPr lang="en-US" sz="1150" b="1" spc="100" kern="0" dirty="0">
                <a:solidFill>
                  <a:srgbClr val="7E9488"/>
                </a:solidFill>
                <a:latin typeface="Calibri" pitchFamily="34" charset="0"/>
                <a:ea typeface="Calibri" pitchFamily="34" charset="-122"/>
                <a:cs typeface="Calibri" pitchFamily="34" charset="-120"/>
              </a:rPr>
              <a:t>Underdog expected pts</a:t>
            </a:r>
            <a:endParaRPr lang="en-US" sz="1150" dirty="0"/>
          </a:p>
        </p:txBody>
      </p:sp>
      <p:sp>
        <p:nvSpPr>
          <p:cNvPr id="10" name="Text 8"/>
          <p:cNvSpPr/>
          <p:nvPr/>
        </p:nvSpPr>
        <p:spPr>
          <a:xfrm>
            <a:off x="7589520" y="2944368"/>
            <a:ext cx="3931920" cy="274320"/>
          </a:xfrm>
          <a:prstGeom prst="rect">
            <a:avLst/>
          </a:prstGeom>
          <a:noFill/>
          <a:ln/>
        </p:spPr>
        <p:txBody>
          <a:bodyPr wrap="square" lIns="0" tIns="177800" rIns="0" bIns="0" rtlCol="0" anchor="ctr"/>
          <a:lstStyle/>
          <a:p>
            <a:pPr algn="l" indent="0" marL="0">
              <a:buNone/>
            </a:pPr>
            <a:r>
              <a:rPr lang="en-US" sz="1150" b="1" spc="100" kern="0" dirty="0">
                <a:solidFill>
                  <a:srgbClr val="7E9488"/>
                </a:solidFill>
                <a:latin typeface="Calibri" pitchFamily="34" charset="0"/>
                <a:ea typeface="Calibri" pitchFamily="34" charset="-122"/>
                <a:cs typeface="Calibri" pitchFamily="34" charset="-120"/>
              </a:rPr>
              <a:t>Verdict</a:t>
            </a:r>
            <a:endParaRPr lang="en-US" sz="1150" dirty="0"/>
          </a:p>
        </p:txBody>
      </p:sp>
      <p:sp>
        <p:nvSpPr>
          <p:cNvPr id="11" name="Shape 9"/>
          <p:cNvSpPr/>
          <p:nvPr/>
        </p:nvSpPr>
        <p:spPr>
          <a:xfrm>
            <a:off x="640080" y="3291840"/>
            <a:ext cx="10881360" cy="365760"/>
          </a:xfrm>
          <a:prstGeom prst="roundRect">
            <a:avLst>
              <a:gd name="adj" fmla="val 12500"/>
            </a:avLst>
          </a:prstGeom>
          <a:solidFill>
            <a:srgbClr val="1F3F33"/>
          </a:solidFill>
          <a:ln w="12700">
            <a:solidFill>
              <a:srgbClr val="1F3F33"/>
            </a:solidFill>
            <a:prstDash val="solid"/>
          </a:ln>
        </p:spPr>
      </p:sp>
      <p:sp>
        <p:nvSpPr>
          <p:cNvPr id="12" name="Text 10"/>
          <p:cNvSpPr/>
          <p:nvPr/>
        </p:nvSpPr>
        <p:spPr>
          <a:xfrm>
            <a:off x="640080" y="3291840"/>
            <a:ext cx="2011680" cy="365760"/>
          </a:xfrm>
          <a:prstGeom prst="rect">
            <a:avLst/>
          </a:prstGeom>
          <a:noFill/>
          <a:ln/>
        </p:spPr>
        <p:txBody>
          <a:bodyPr wrap="square" lIns="0" tIns="0" rIns="0" bIns="0" rtlCol="0" anchor="ctr"/>
          <a:lstStyle/>
          <a:p>
            <a:pPr algn="ctr" indent="0" marL="0">
              <a:buNone/>
            </a:pPr>
            <a:r>
              <a:rPr lang="en-US" sz="1400" dirty="0">
                <a:solidFill>
                  <a:srgbClr val="8FA89A"/>
                </a:solidFill>
                <a:latin typeface="Bookman Old Style" pitchFamily="34" charset="0"/>
                <a:ea typeface="Bookman Old Style" pitchFamily="34" charset="-122"/>
                <a:cs typeface="Bookman Old Style" pitchFamily="34" charset="-120"/>
              </a:rPr>
              <a:t>3.5</a:t>
            </a:r>
            <a:endParaRPr lang="en-US" sz="1400" dirty="0"/>
          </a:p>
        </p:txBody>
      </p:sp>
      <p:sp>
        <p:nvSpPr>
          <p:cNvPr id="13" name="Text 11"/>
          <p:cNvSpPr/>
          <p:nvPr/>
        </p:nvSpPr>
        <p:spPr>
          <a:xfrm>
            <a:off x="2651760" y="3291840"/>
            <a:ext cx="2011680" cy="365760"/>
          </a:xfrm>
          <a:prstGeom prst="rect">
            <a:avLst/>
          </a:prstGeom>
          <a:noFill/>
          <a:ln/>
        </p:spPr>
        <p:txBody>
          <a:bodyPr wrap="square" lIns="0" tIns="0" rIns="0" bIns="0" rtlCol="0" anchor="ctr"/>
          <a:lstStyle/>
          <a:p>
            <a:pPr algn="ctr" indent="0" marL="0">
              <a:buNone/>
            </a:pPr>
            <a:r>
              <a:rPr lang="en-US" sz="1400" dirty="0">
                <a:solidFill>
                  <a:srgbClr val="8FA89A"/>
                </a:solidFill>
                <a:latin typeface="Bookman Old Style" pitchFamily="34" charset="0"/>
                <a:ea typeface="Bookman Old Style" pitchFamily="34" charset="-122"/>
                <a:cs typeface="Bookman Old Style" pitchFamily="34" charset="-120"/>
              </a:rPr>
              <a:t>62.5</a:t>
            </a:r>
            <a:endParaRPr lang="en-US" sz="1400" dirty="0"/>
          </a:p>
        </p:txBody>
      </p:sp>
      <p:sp>
        <p:nvSpPr>
          <p:cNvPr id="14" name="Text 12"/>
          <p:cNvSpPr/>
          <p:nvPr/>
        </p:nvSpPr>
        <p:spPr>
          <a:xfrm>
            <a:off x="4663440" y="3291840"/>
            <a:ext cx="2926080" cy="365760"/>
          </a:xfrm>
          <a:prstGeom prst="rect">
            <a:avLst/>
          </a:prstGeom>
          <a:noFill/>
          <a:ln/>
        </p:spPr>
        <p:txBody>
          <a:bodyPr wrap="square" lIns="0" tIns="0" rIns="0" bIns="0" rtlCol="0" anchor="ctr"/>
          <a:lstStyle/>
          <a:p>
            <a:pPr algn="ctr" indent="0" marL="0">
              <a:buNone/>
            </a:pPr>
            <a:r>
              <a:rPr lang="en-US" sz="1400" dirty="0">
                <a:solidFill>
                  <a:srgbClr val="8FA89A"/>
                </a:solidFill>
                <a:latin typeface="Bookman Old Style" pitchFamily="34" charset="0"/>
                <a:ea typeface="Bookman Old Style" pitchFamily="34" charset="-122"/>
                <a:cs typeface="Bookman Old Style" pitchFamily="34" charset="-120"/>
              </a:rPr>
              <a:t>29.5</a:t>
            </a:r>
            <a:endParaRPr lang="en-US" sz="1400" dirty="0"/>
          </a:p>
        </p:txBody>
      </p:sp>
      <p:sp>
        <p:nvSpPr>
          <p:cNvPr id="15" name="Text 13"/>
          <p:cNvSpPr/>
          <p:nvPr/>
        </p:nvSpPr>
        <p:spPr>
          <a:xfrm>
            <a:off x="7589520" y="3291840"/>
            <a:ext cx="3931920" cy="365760"/>
          </a:xfrm>
          <a:prstGeom prst="rect">
            <a:avLst/>
          </a:prstGeom>
          <a:noFill/>
          <a:ln/>
        </p:spPr>
        <p:txBody>
          <a:bodyPr wrap="square" lIns="0" tIns="177800" rIns="0" bIns="0" rtlCol="0" anchor="ctr"/>
          <a:lstStyle/>
          <a:p>
            <a:pPr algn="l" indent="0" marL="0">
              <a:buNone/>
            </a:pPr>
            <a:r>
              <a:rPr lang="en-US" sz="1400" dirty="0">
                <a:solidFill>
                  <a:srgbClr val="8FA89A"/>
                </a:solidFill>
                <a:latin typeface="Bookman Old Style" pitchFamily="34" charset="0"/>
                <a:ea typeface="Bookman Old Style" pitchFamily="34" charset="-122"/>
                <a:cs typeface="Bookman Old Style" pitchFamily="34" charset="-120"/>
              </a:rPr>
              <a:t>Skip</a:t>
            </a:r>
            <a:endParaRPr lang="en-US" sz="1400" dirty="0"/>
          </a:p>
        </p:txBody>
      </p:sp>
      <p:sp>
        <p:nvSpPr>
          <p:cNvPr id="16" name="Shape 14"/>
          <p:cNvSpPr/>
          <p:nvPr/>
        </p:nvSpPr>
        <p:spPr>
          <a:xfrm>
            <a:off x="640080" y="3721608"/>
            <a:ext cx="10881360" cy="365760"/>
          </a:xfrm>
          <a:prstGeom prst="roundRect">
            <a:avLst>
              <a:gd name="adj" fmla="val 12500"/>
            </a:avLst>
          </a:prstGeom>
          <a:solidFill>
            <a:srgbClr val="1F3F33"/>
          </a:solidFill>
          <a:ln w="12700">
            <a:solidFill>
              <a:srgbClr val="1F3F33"/>
            </a:solidFill>
            <a:prstDash val="solid"/>
          </a:ln>
        </p:spPr>
      </p:sp>
      <p:sp>
        <p:nvSpPr>
          <p:cNvPr id="17" name="Text 15"/>
          <p:cNvSpPr/>
          <p:nvPr/>
        </p:nvSpPr>
        <p:spPr>
          <a:xfrm>
            <a:off x="640080" y="3721608"/>
            <a:ext cx="2011680" cy="365760"/>
          </a:xfrm>
          <a:prstGeom prst="rect">
            <a:avLst/>
          </a:prstGeom>
          <a:noFill/>
          <a:ln/>
        </p:spPr>
        <p:txBody>
          <a:bodyPr wrap="square" lIns="0" tIns="0" rIns="0" bIns="0" rtlCol="0" anchor="ctr"/>
          <a:lstStyle/>
          <a:p>
            <a:pPr algn="ctr" indent="0" marL="0">
              <a:buNone/>
            </a:pPr>
            <a:r>
              <a:rPr lang="en-US" sz="1400" dirty="0">
                <a:solidFill>
                  <a:srgbClr val="8FA89A"/>
                </a:solidFill>
                <a:latin typeface="Bookman Old Style" pitchFamily="34" charset="0"/>
                <a:ea typeface="Bookman Old Style" pitchFamily="34" charset="-122"/>
                <a:cs typeface="Bookman Old Style" pitchFamily="34" charset="-120"/>
              </a:rPr>
              <a:t>14</a:t>
            </a:r>
            <a:endParaRPr lang="en-US" sz="1400" dirty="0"/>
          </a:p>
        </p:txBody>
      </p:sp>
      <p:sp>
        <p:nvSpPr>
          <p:cNvPr id="18" name="Text 16"/>
          <p:cNvSpPr/>
          <p:nvPr/>
        </p:nvSpPr>
        <p:spPr>
          <a:xfrm>
            <a:off x="2651760" y="3721608"/>
            <a:ext cx="2011680" cy="365760"/>
          </a:xfrm>
          <a:prstGeom prst="rect">
            <a:avLst/>
          </a:prstGeom>
          <a:noFill/>
          <a:ln/>
        </p:spPr>
        <p:txBody>
          <a:bodyPr wrap="square" lIns="0" tIns="0" rIns="0" bIns="0" rtlCol="0" anchor="ctr"/>
          <a:lstStyle/>
          <a:p>
            <a:pPr algn="ctr" indent="0" marL="0">
              <a:buNone/>
            </a:pPr>
            <a:r>
              <a:rPr lang="en-US" sz="1400" dirty="0">
                <a:solidFill>
                  <a:srgbClr val="8FA89A"/>
                </a:solidFill>
                <a:latin typeface="Bookman Old Style" pitchFamily="34" charset="0"/>
                <a:ea typeface="Bookman Old Style" pitchFamily="34" charset="-122"/>
                <a:cs typeface="Bookman Old Style" pitchFamily="34" charset="-120"/>
              </a:rPr>
              <a:t>47.5</a:t>
            </a:r>
            <a:endParaRPr lang="en-US" sz="1400" dirty="0"/>
          </a:p>
        </p:txBody>
      </p:sp>
      <p:sp>
        <p:nvSpPr>
          <p:cNvPr id="19" name="Text 17"/>
          <p:cNvSpPr/>
          <p:nvPr/>
        </p:nvSpPr>
        <p:spPr>
          <a:xfrm>
            <a:off x="4663440" y="3721608"/>
            <a:ext cx="2926080" cy="365760"/>
          </a:xfrm>
          <a:prstGeom prst="rect">
            <a:avLst/>
          </a:prstGeom>
          <a:noFill/>
          <a:ln/>
        </p:spPr>
        <p:txBody>
          <a:bodyPr wrap="square" lIns="0" tIns="0" rIns="0" bIns="0" rtlCol="0" anchor="ctr"/>
          <a:lstStyle/>
          <a:p>
            <a:pPr algn="ctr" indent="0" marL="0">
              <a:buNone/>
            </a:pPr>
            <a:r>
              <a:rPr lang="en-US" sz="1400" dirty="0">
                <a:solidFill>
                  <a:srgbClr val="8FA89A"/>
                </a:solidFill>
                <a:latin typeface="Bookman Old Style" pitchFamily="34" charset="0"/>
                <a:ea typeface="Bookman Old Style" pitchFamily="34" charset="-122"/>
                <a:cs typeface="Bookman Old Style" pitchFamily="34" charset="-120"/>
              </a:rPr>
              <a:t>16.75</a:t>
            </a:r>
            <a:endParaRPr lang="en-US" sz="1400" dirty="0"/>
          </a:p>
        </p:txBody>
      </p:sp>
      <p:sp>
        <p:nvSpPr>
          <p:cNvPr id="20" name="Text 18"/>
          <p:cNvSpPr/>
          <p:nvPr/>
        </p:nvSpPr>
        <p:spPr>
          <a:xfrm>
            <a:off x="7589520" y="3721608"/>
            <a:ext cx="3931920" cy="365760"/>
          </a:xfrm>
          <a:prstGeom prst="rect">
            <a:avLst/>
          </a:prstGeom>
          <a:noFill/>
          <a:ln/>
        </p:spPr>
        <p:txBody>
          <a:bodyPr wrap="square" lIns="0" tIns="177800" rIns="0" bIns="0" rtlCol="0" anchor="ctr"/>
          <a:lstStyle/>
          <a:p>
            <a:pPr algn="l" indent="0" marL="0">
              <a:buNone/>
            </a:pPr>
            <a:r>
              <a:rPr lang="en-US" sz="1400" dirty="0">
                <a:solidFill>
                  <a:srgbClr val="8FA89A"/>
                </a:solidFill>
                <a:latin typeface="Bookman Old Style" pitchFamily="34" charset="0"/>
                <a:ea typeface="Bookman Old Style" pitchFamily="34" charset="-122"/>
                <a:cs typeface="Bookman Old Style" pitchFamily="34" charset="-120"/>
              </a:rPr>
              <a:t>Skip</a:t>
            </a:r>
            <a:endParaRPr lang="en-US" sz="1400" dirty="0"/>
          </a:p>
        </p:txBody>
      </p:sp>
      <p:sp>
        <p:nvSpPr>
          <p:cNvPr id="21" name="Shape 19"/>
          <p:cNvSpPr/>
          <p:nvPr/>
        </p:nvSpPr>
        <p:spPr>
          <a:xfrm>
            <a:off x="640080" y="4151376"/>
            <a:ext cx="10881360" cy="365760"/>
          </a:xfrm>
          <a:prstGeom prst="roundRect">
            <a:avLst>
              <a:gd name="adj" fmla="val 12500"/>
            </a:avLst>
          </a:prstGeom>
          <a:solidFill>
            <a:srgbClr val="1F3F33"/>
          </a:solidFill>
          <a:ln w="12700">
            <a:solidFill>
              <a:srgbClr val="1F3F33"/>
            </a:solidFill>
            <a:prstDash val="solid"/>
          </a:ln>
        </p:spPr>
      </p:sp>
      <p:sp>
        <p:nvSpPr>
          <p:cNvPr id="22" name="Text 20"/>
          <p:cNvSpPr/>
          <p:nvPr/>
        </p:nvSpPr>
        <p:spPr>
          <a:xfrm>
            <a:off x="640080" y="4151376"/>
            <a:ext cx="2011680" cy="365760"/>
          </a:xfrm>
          <a:prstGeom prst="rect">
            <a:avLst/>
          </a:prstGeom>
          <a:noFill/>
          <a:ln/>
        </p:spPr>
        <p:txBody>
          <a:bodyPr wrap="square" lIns="0" tIns="0" rIns="0" bIns="0" rtlCol="0" anchor="ctr"/>
          <a:lstStyle/>
          <a:p>
            <a:pPr algn="ctr" indent="0" marL="0">
              <a:buNone/>
            </a:pPr>
            <a:r>
              <a:rPr lang="en-US" sz="1400" dirty="0">
                <a:solidFill>
                  <a:srgbClr val="8FA89A"/>
                </a:solidFill>
                <a:latin typeface="Bookman Old Style" pitchFamily="34" charset="0"/>
                <a:ea typeface="Bookman Old Style" pitchFamily="34" charset="-122"/>
                <a:cs typeface="Bookman Old Style" pitchFamily="34" charset="-120"/>
              </a:rPr>
              <a:t>21.5</a:t>
            </a:r>
            <a:endParaRPr lang="en-US" sz="1400" dirty="0"/>
          </a:p>
        </p:txBody>
      </p:sp>
      <p:sp>
        <p:nvSpPr>
          <p:cNvPr id="23" name="Text 21"/>
          <p:cNvSpPr/>
          <p:nvPr/>
        </p:nvSpPr>
        <p:spPr>
          <a:xfrm>
            <a:off x="2651760" y="4151376"/>
            <a:ext cx="2011680" cy="365760"/>
          </a:xfrm>
          <a:prstGeom prst="rect">
            <a:avLst/>
          </a:prstGeom>
          <a:noFill/>
          <a:ln/>
        </p:spPr>
        <p:txBody>
          <a:bodyPr wrap="square" lIns="0" tIns="0" rIns="0" bIns="0" rtlCol="0" anchor="ctr"/>
          <a:lstStyle/>
          <a:p>
            <a:pPr algn="ctr" indent="0" marL="0">
              <a:buNone/>
            </a:pPr>
            <a:r>
              <a:rPr lang="en-US" sz="1400" dirty="0">
                <a:solidFill>
                  <a:srgbClr val="8FA89A"/>
                </a:solidFill>
                <a:latin typeface="Bookman Old Style" pitchFamily="34" charset="0"/>
                <a:ea typeface="Bookman Old Style" pitchFamily="34" charset="-122"/>
                <a:cs typeface="Bookman Old Style" pitchFamily="34" charset="-120"/>
              </a:rPr>
              <a:t>44.5</a:t>
            </a:r>
            <a:endParaRPr lang="en-US" sz="1400" dirty="0"/>
          </a:p>
        </p:txBody>
      </p:sp>
      <p:sp>
        <p:nvSpPr>
          <p:cNvPr id="24" name="Text 22"/>
          <p:cNvSpPr/>
          <p:nvPr/>
        </p:nvSpPr>
        <p:spPr>
          <a:xfrm>
            <a:off x="4663440" y="4151376"/>
            <a:ext cx="2926080" cy="365760"/>
          </a:xfrm>
          <a:prstGeom prst="rect">
            <a:avLst/>
          </a:prstGeom>
          <a:noFill/>
          <a:ln/>
        </p:spPr>
        <p:txBody>
          <a:bodyPr wrap="square" lIns="0" tIns="0" rIns="0" bIns="0" rtlCol="0" anchor="ctr"/>
          <a:lstStyle/>
          <a:p>
            <a:pPr algn="ctr" indent="0" marL="0">
              <a:buNone/>
            </a:pPr>
            <a:r>
              <a:rPr lang="en-US" sz="1400" dirty="0">
                <a:solidFill>
                  <a:srgbClr val="8FA89A"/>
                </a:solidFill>
                <a:latin typeface="Bookman Old Style" pitchFamily="34" charset="0"/>
                <a:ea typeface="Bookman Old Style" pitchFamily="34" charset="-122"/>
                <a:cs typeface="Bookman Old Style" pitchFamily="34" charset="-120"/>
              </a:rPr>
              <a:t>11.5</a:t>
            </a:r>
            <a:endParaRPr lang="en-US" sz="1400" dirty="0"/>
          </a:p>
        </p:txBody>
      </p:sp>
      <p:sp>
        <p:nvSpPr>
          <p:cNvPr id="25" name="Text 23"/>
          <p:cNvSpPr/>
          <p:nvPr/>
        </p:nvSpPr>
        <p:spPr>
          <a:xfrm>
            <a:off x="7589520" y="4151376"/>
            <a:ext cx="3931920" cy="365760"/>
          </a:xfrm>
          <a:prstGeom prst="rect">
            <a:avLst/>
          </a:prstGeom>
          <a:noFill/>
          <a:ln/>
        </p:spPr>
        <p:txBody>
          <a:bodyPr wrap="square" lIns="0" tIns="177800" rIns="0" bIns="0" rtlCol="0" anchor="ctr"/>
          <a:lstStyle/>
          <a:p>
            <a:pPr algn="l" indent="0" marL="0">
              <a:buNone/>
            </a:pPr>
            <a:r>
              <a:rPr lang="en-US" sz="1400" dirty="0">
                <a:solidFill>
                  <a:srgbClr val="8FA89A"/>
                </a:solidFill>
                <a:latin typeface="Bookman Old Style" pitchFamily="34" charset="0"/>
                <a:ea typeface="Bookman Old Style" pitchFamily="34" charset="-122"/>
                <a:cs typeface="Bookman Old Style" pitchFamily="34" charset="-120"/>
              </a:rPr>
              <a:t>Skip — close</a:t>
            </a:r>
            <a:endParaRPr lang="en-US" sz="1400" dirty="0"/>
          </a:p>
        </p:txBody>
      </p:sp>
      <p:sp>
        <p:nvSpPr>
          <p:cNvPr id="26" name="Shape 24"/>
          <p:cNvSpPr/>
          <p:nvPr/>
        </p:nvSpPr>
        <p:spPr>
          <a:xfrm>
            <a:off x="640080" y="4581144"/>
            <a:ext cx="10881360" cy="365760"/>
          </a:xfrm>
          <a:prstGeom prst="roundRect">
            <a:avLst>
              <a:gd name="adj" fmla="val 12500"/>
            </a:avLst>
          </a:prstGeom>
          <a:solidFill>
            <a:srgbClr val="24483A"/>
          </a:solidFill>
          <a:ln w="12700">
            <a:solidFill>
              <a:srgbClr val="356751"/>
            </a:solidFill>
            <a:prstDash val="solid"/>
          </a:ln>
        </p:spPr>
      </p:sp>
      <p:sp>
        <p:nvSpPr>
          <p:cNvPr id="27" name="Text 25"/>
          <p:cNvSpPr/>
          <p:nvPr/>
        </p:nvSpPr>
        <p:spPr>
          <a:xfrm>
            <a:off x="640080" y="4581144"/>
            <a:ext cx="2011680" cy="365760"/>
          </a:xfrm>
          <a:prstGeom prst="rect">
            <a:avLst/>
          </a:prstGeom>
          <a:noFill/>
          <a:ln/>
        </p:spPr>
        <p:txBody>
          <a:bodyPr wrap="square" lIns="0" tIns="0" rIns="0" bIns="0" rtlCol="0" anchor="ctr"/>
          <a:lstStyle/>
          <a:p>
            <a:pPr algn="ctr" indent="0" marL="0">
              <a:buNone/>
            </a:pPr>
            <a:r>
              <a:rPr lang="en-US" sz="1400" dirty="0">
                <a:solidFill>
                  <a:srgbClr val="FFFFFF"/>
                </a:solidFill>
                <a:latin typeface="Bookman Old Style" pitchFamily="34" charset="0"/>
                <a:ea typeface="Bookman Old Style" pitchFamily="34" charset="-122"/>
                <a:cs typeface="Bookman Old Style" pitchFamily="34" charset="-120"/>
              </a:rPr>
              <a:t>21</a:t>
            </a:r>
            <a:endParaRPr lang="en-US" sz="1400" dirty="0"/>
          </a:p>
        </p:txBody>
      </p:sp>
      <p:sp>
        <p:nvSpPr>
          <p:cNvPr id="28" name="Text 26"/>
          <p:cNvSpPr/>
          <p:nvPr/>
        </p:nvSpPr>
        <p:spPr>
          <a:xfrm>
            <a:off x="2651760" y="4581144"/>
            <a:ext cx="2011680" cy="365760"/>
          </a:xfrm>
          <a:prstGeom prst="rect">
            <a:avLst/>
          </a:prstGeom>
          <a:noFill/>
          <a:ln/>
        </p:spPr>
        <p:txBody>
          <a:bodyPr wrap="square" lIns="0" tIns="0" rIns="0" bIns="0" rtlCol="0" anchor="ctr"/>
          <a:lstStyle/>
          <a:p>
            <a:pPr algn="ctr" indent="0" marL="0">
              <a:buNone/>
            </a:pPr>
            <a:r>
              <a:rPr lang="en-US" sz="1400" dirty="0">
                <a:solidFill>
                  <a:srgbClr val="FFFFFF"/>
                </a:solidFill>
                <a:latin typeface="Bookman Old Style" pitchFamily="34" charset="0"/>
                <a:ea typeface="Bookman Old Style" pitchFamily="34" charset="-122"/>
                <a:cs typeface="Bookman Old Style" pitchFamily="34" charset="-120"/>
              </a:rPr>
              <a:t>41</a:t>
            </a:r>
            <a:endParaRPr lang="en-US" sz="1400" dirty="0"/>
          </a:p>
        </p:txBody>
      </p:sp>
      <p:sp>
        <p:nvSpPr>
          <p:cNvPr id="29" name="Text 27"/>
          <p:cNvSpPr/>
          <p:nvPr/>
        </p:nvSpPr>
        <p:spPr>
          <a:xfrm>
            <a:off x="4663440" y="4581144"/>
            <a:ext cx="2926080" cy="365760"/>
          </a:xfrm>
          <a:prstGeom prst="rect">
            <a:avLst/>
          </a:prstGeom>
          <a:noFill/>
          <a:ln/>
        </p:spPr>
        <p:txBody>
          <a:bodyPr wrap="square" lIns="0" tIns="0" rIns="0" bIns="0" rtlCol="0" anchor="ctr"/>
          <a:lstStyle/>
          <a:p>
            <a:pPr algn="ctr" indent="0" marL="0">
              <a:buNone/>
            </a:pPr>
            <a:r>
              <a:rPr lang="en-US" sz="1400" dirty="0">
                <a:solidFill>
                  <a:srgbClr val="FFFFFF"/>
                </a:solidFill>
                <a:latin typeface="Bookman Old Style" pitchFamily="34" charset="0"/>
                <a:ea typeface="Bookman Old Style" pitchFamily="34" charset="-122"/>
                <a:cs typeface="Bookman Old Style" pitchFamily="34" charset="-120"/>
              </a:rPr>
              <a:t>10.0</a:t>
            </a:r>
            <a:endParaRPr lang="en-US" sz="1400" dirty="0"/>
          </a:p>
        </p:txBody>
      </p:sp>
      <p:sp>
        <p:nvSpPr>
          <p:cNvPr id="30" name="Text 28"/>
          <p:cNvSpPr/>
          <p:nvPr/>
        </p:nvSpPr>
        <p:spPr>
          <a:xfrm>
            <a:off x="7589520" y="4581144"/>
            <a:ext cx="3931920" cy="365760"/>
          </a:xfrm>
          <a:prstGeom prst="rect">
            <a:avLst/>
          </a:prstGeom>
          <a:noFill/>
          <a:ln/>
        </p:spPr>
        <p:txBody>
          <a:bodyPr wrap="square" lIns="0" tIns="177800" rIns="0" bIns="0" rtlCol="0" anchor="ctr"/>
          <a:lstStyle/>
          <a:p>
            <a:pPr algn="l" indent="0" marL="0">
              <a:buNone/>
            </a:pPr>
            <a:r>
              <a:rPr lang="en-US" sz="1400" b="1" dirty="0">
                <a:solidFill>
                  <a:srgbClr val="D4A537"/>
                </a:solidFill>
                <a:latin typeface="Bookman Old Style" pitchFamily="34" charset="0"/>
                <a:ea typeface="Bookman Old Style" pitchFamily="34" charset="-122"/>
                <a:cs typeface="Bookman Old Style" pitchFamily="34" charset="-120"/>
              </a:rPr>
              <a:t>BET the over</a:t>
            </a:r>
            <a:endParaRPr lang="en-US" sz="1400" dirty="0"/>
          </a:p>
        </p:txBody>
      </p:sp>
      <p:sp>
        <p:nvSpPr>
          <p:cNvPr id="31" name="Shape 29"/>
          <p:cNvSpPr/>
          <p:nvPr/>
        </p:nvSpPr>
        <p:spPr>
          <a:xfrm>
            <a:off x="640080" y="5010912"/>
            <a:ext cx="10881360" cy="365760"/>
          </a:xfrm>
          <a:prstGeom prst="roundRect">
            <a:avLst>
              <a:gd name="adj" fmla="val 12500"/>
            </a:avLst>
          </a:prstGeom>
          <a:solidFill>
            <a:srgbClr val="24483A"/>
          </a:solidFill>
          <a:ln w="12700">
            <a:solidFill>
              <a:srgbClr val="356751"/>
            </a:solidFill>
            <a:prstDash val="solid"/>
          </a:ln>
        </p:spPr>
      </p:sp>
      <p:sp>
        <p:nvSpPr>
          <p:cNvPr id="32" name="Text 30"/>
          <p:cNvSpPr/>
          <p:nvPr/>
        </p:nvSpPr>
        <p:spPr>
          <a:xfrm>
            <a:off x="640080" y="5010912"/>
            <a:ext cx="2011680" cy="365760"/>
          </a:xfrm>
          <a:prstGeom prst="rect">
            <a:avLst/>
          </a:prstGeom>
          <a:noFill/>
          <a:ln/>
        </p:spPr>
        <p:txBody>
          <a:bodyPr wrap="square" lIns="0" tIns="0" rIns="0" bIns="0" rtlCol="0" anchor="ctr"/>
          <a:lstStyle/>
          <a:p>
            <a:pPr algn="ctr" indent="0" marL="0">
              <a:buNone/>
            </a:pPr>
            <a:r>
              <a:rPr lang="en-US" sz="1400" dirty="0">
                <a:solidFill>
                  <a:srgbClr val="FFFFFF"/>
                </a:solidFill>
                <a:latin typeface="Bookman Old Style" pitchFamily="34" charset="0"/>
                <a:ea typeface="Bookman Old Style" pitchFamily="34" charset="-122"/>
                <a:cs typeface="Bookman Old Style" pitchFamily="34" charset="-120"/>
              </a:rPr>
              <a:t>30</a:t>
            </a:r>
            <a:endParaRPr lang="en-US" sz="1400" dirty="0"/>
          </a:p>
        </p:txBody>
      </p:sp>
      <p:sp>
        <p:nvSpPr>
          <p:cNvPr id="33" name="Text 31"/>
          <p:cNvSpPr/>
          <p:nvPr/>
        </p:nvSpPr>
        <p:spPr>
          <a:xfrm>
            <a:off x="2651760" y="5010912"/>
            <a:ext cx="2011680" cy="365760"/>
          </a:xfrm>
          <a:prstGeom prst="rect">
            <a:avLst/>
          </a:prstGeom>
          <a:noFill/>
          <a:ln/>
        </p:spPr>
        <p:txBody>
          <a:bodyPr wrap="square" lIns="0" tIns="0" rIns="0" bIns="0" rtlCol="0" anchor="ctr"/>
          <a:lstStyle/>
          <a:p>
            <a:pPr algn="ctr" indent="0" marL="0">
              <a:buNone/>
            </a:pPr>
            <a:r>
              <a:rPr lang="en-US" sz="1400" dirty="0">
                <a:solidFill>
                  <a:srgbClr val="FFFFFF"/>
                </a:solidFill>
                <a:latin typeface="Bookman Old Style" pitchFamily="34" charset="0"/>
                <a:ea typeface="Bookman Old Style" pitchFamily="34" charset="-122"/>
                <a:cs typeface="Bookman Old Style" pitchFamily="34" charset="-120"/>
              </a:rPr>
              <a:t>47</a:t>
            </a:r>
            <a:endParaRPr lang="en-US" sz="1400" dirty="0"/>
          </a:p>
        </p:txBody>
      </p:sp>
      <p:sp>
        <p:nvSpPr>
          <p:cNvPr id="34" name="Text 32"/>
          <p:cNvSpPr/>
          <p:nvPr/>
        </p:nvSpPr>
        <p:spPr>
          <a:xfrm>
            <a:off x="4663440" y="5010912"/>
            <a:ext cx="2926080" cy="365760"/>
          </a:xfrm>
          <a:prstGeom prst="rect">
            <a:avLst/>
          </a:prstGeom>
          <a:noFill/>
          <a:ln/>
        </p:spPr>
        <p:txBody>
          <a:bodyPr wrap="square" lIns="0" tIns="0" rIns="0" bIns="0" rtlCol="0" anchor="ctr"/>
          <a:lstStyle/>
          <a:p>
            <a:pPr algn="ctr" indent="0" marL="0">
              <a:buNone/>
            </a:pPr>
            <a:r>
              <a:rPr lang="en-US" sz="1400" dirty="0">
                <a:solidFill>
                  <a:srgbClr val="FFFFFF"/>
                </a:solidFill>
                <a:latin typeface="Bookman Old Style" pitchFamily="34" charset="0"/>
                <a:ea typeface="Bookman Old Style" pitchFamily="34" charset="-122"/>
                <a:cs typeface="Bookman Old Style" pitchFamily="34" charset="-120"/>
              </a:rPr>
              <a:t>8.5</a:t>
            </a:r>
            <a:endParaRPr lang="en-US" sz="1400" dirty="0"/>
          </a:p>
        </p:txBody>
      </p:sp>
      <p:sp>
        <p:nvSpPr>
          <p:cNvPr id="35" name="Text 33"/>
          <p:cNvSpPr/>
          <p:nvPr/>
        </p:nvSpPr>
        <p:spPr>
          <a:xfrm>
            <a:off x="7589520" y="5010912"/>
            <a:ext cx="3931920" cy="365760"/>
          </a:xfrm>
          <a:prstGeom prst="rect">
            <a:avLst/>
          </a:prstGeom>
          <a:noFill/>
          <a:ln/>
        </p:spPr>
        <p:txBody>
          <a:bodyPr wrap="square" lIns="0" tIns="177800" rIns="0" bIns="0" rtlCol="0" anchor="ctr"/>
          <a:lstStyle/>
          <a:p>
            <a:pPr algn="l" indent="0" marL="0">
              <a:buNone/>
            </a:pPr>
            <a:r>
              <a:rPr lang="en-US" sz="1400" b="1" dirty="0">
                <a:solidFill>
                  <a:srgbClr val="D4A537"/>
                </a:solidFill>
                <a:latin typeface="Bookman Old Style" pitchFamily="34" charset="0"/>
                <a:ea typeface="Bookman Old Style" pitchFamily="34" charset="-122"/>
                <a:cs typeface="Bookman Old Style" pitchFamily="34" charset="-120"/>
              </a:rPr>
              <a:t>BET the over</a:t>
            </a:r>
            <a:endParaRPr lang="en-US" sz="1400" dirty="0"/>
          </a:p>
        </p:txBody>
      </p:sp>
      <p:sp>
        <p:nvSpPr>
          <p:cNvPr id="36" name="Shape 34"/>
          <p:cNvSpPr/>
          <p:nvPr/>
        </p:nvSpPr>
        <p:spPr>
          <a:xfrm>
            <a:off x="640080" y="5440680"/>
            <a:ext cx="10881360" cy="365760"/>
          </a:xfrm>
          <a:prstGeom prst="roundRect">
            <a:avLst>
              <a:gd name="adj" fmla="val 12500"/>
            </a:avLst>
          </a:prstGeom>
          <a:solidFill>
            <a:srgbClr val="24483A"/>
          </a:solidFill>
          <a:ln w="12700">
            <a:solidFill>
              <a:srgbClr val="356751"/>
            </a:solidFill>
            <a:prstDash val="solid"/>
          </a:ln>
        </p:spPr>
      </p:sp>
      <p:sp>
        <p:nvSpPr>
          <p:cNvPr id="37" name="Text 35"/>
          <p:cNvSpPr/>
          <p:nvPr/>
        </p:nvSpPr>
        <p:spPr>
          <a:xfrm>
            <a:off x="640080" y="5440680"/>
            <a:ext cx="2011680" cy="365760"/>
          </a:xfrm>
          <a:prstGeom prst="rect">
            <a:avLst/>
          </a:prstGeom>
          <a:noFill/>
          <a:ln/>
        </p:spPr>
        <p:txBody>
          <a:bodyPr wrap="square" lIns="0" tIns="0" rIns="0" bIns="0" rtlCol="0" anchor="ctr"/>
          <a:lstStyle/>
          <a:p>
            <a:pPr algn="ctr" indent="0" marL="0">
              <a:buNone/>
            </a:pPr>
            <a:r>
              <a:rPr lang="en-US" sz="1400" dirty="0">
                <a:solidFill>
                  <a:srgbClr val="FFFFFF"/>
                </a:solidFill>
                <a:latin typeface="Bookman Old Style" pitchFamily="34" charset="0"/>
                <a:ea typeface="Bookman Old Style" pitchFamily="34" charset="-122"/>
                <a:cs typeface="Bookman Old Style" pitchFamily="34" charset="-120"/>
              </a:rPr>
              <a:t>35</a:t>
            </a:r>
            <a:endParaRPr lang="en-US" sz="1400" dirty="0"/>
          </a:p>
        </p:txBody>
      </p:sp>
      <p:sp>
        <p:nvSpPr>
          <p:cNvPr id="38" name="Text 36"/>
          <p:cNvSpPr/>
          <p:nvPr/>
        </p:nvSpPr>
        <p:spPr>
          <a:xfrm>
            <a:off x="2651760" y="5440680"/>
            <a:ext cx="2011680" cy="365760"/>
          </a:xfrm>
          <a:prstGeom prst="rect">
            <a:avLst/>
          </a:prstGeom>
          <a:noFill/>
          <a:ln/>
        </p:spPr>
        <p:txBody>
          <a:bodyPr wrap="square" lIns="0" tIns="0" rIns="0" bIns="0" rtlCol="0" anchor="ctr"/>
          <a:lstStyle/>
          <a:p>
            <a:pPr algn="ctr" indent="0" marL="0">
              <a:buNone/>
            </a:pPr>
            <a:r>
              <a:rPr lang="en-US" sz="1400" dirty="0">
                <a:solidFill>
                  <a:srgbClr val="FFFFFF"/>
                </a:solidFill>
                <a:latin typeface="Bookman Old Style" pitchFamily="34" charset="0"/>
                <a:ea typeface="Bookman Old Style" pitchFamily="34" charset="-122"/>
                <a:cs typeface="Bookman Old Style" pitchFamily="34" charset="-120"/>
              </a:rPr>
              <a:t>48.5</a:t>
            </a:r>
            <a:endParaRPr lang="en-US" sz="1400" dirty="0"/>
          </a:p>
        </p:txBody>
      </p:sp>
      <p:sp>
        <p:nvSpPr>
          <p:cNvPr id="39" name="Text 37"/>
          <p:cNvSpPr/>
          <p:nvPr/>
        </p:nvSpPr>
        <p:spPr>
          <a:xfrm>
            <a:off x="4663440" y="5440680"/>
            <a:ext cx="2926080" cy="365760"/>
          </a:xfrm>
          <a:prstGeom prst="rect">
            <a:avLst/>
          </a:prstGeom>
          <a:noFill/>
          <a:ln/>
        </p:spPr>
        <p:txBody>
          <a:bodyPr wrap="square" lIns="0" tIns="0" rIns="0" bIns="0" rtlCol="0" anchor="ctr"/>
          <a:lstStyle/>
          <a:p>
            <a:pPr algn="ctr" indent="0" marL="0">
              <a:buNone/>
            </a:pPr>
            <a:r>
              <a:rPr lang="en-US" sz="1400" dirty="0">
                <a:solidFill>
                  <a:srgbClr val="FFFFFF"/>
                </a:solidFill>
                <a:latin typeface="Bookman Old Style" pitchFamily="34" charset="0"/>
                <a:ea typeface="Bookman Old Style" pitchFamily="34" charset="-122"/>
                <a:cs typeface="Bookman Old Style" pitchFamily="34" charset="-120"/>
              </a:rPr>
              <a:t>6.75</a:t>
            </a:r>
            <a:endParaRPr lang="en-US" sz="1400" dirty="0"/>
          </a:p>
        </p:txBody>
      </p:sp>
      <p:sp>
        <p:nvSpPr>
          <p:cNvPr id="40" name="Text 38"/>
          <p:cNvSpPr/>
          <p:nvPr/>
        </p:nvSpPr>
        <p:spPr>
          <a:xfrm>
            <a:off x="7589520" y="5440680"/>
            <a:ext cx="3931920" cy="365760"/>
          </a:xfrm>
          <a:prstGeom prst="rect">
            <a:avLst/>
          </a:prstGeom>
          <a:noFill/>
          <a:ln/>
        </p:spPr>
        <p:txBody>
          <a:bodyPr wrap="square" lIns="0" tIns="177800" rIns="0" bIns="0" rtlCol="0" anchor="ctr"/>
          <a:lstStyle/>
          <a:p>
            <a:pPr algn="l" indent="0" marL="0">
              <a:buNone/>
            </a:pPr>
            <a:r>
              <a:rPr lang="en-US" sz="1400" b="1" dirty="0">
                <a:solidFill>
                  <a:srgbClr val="D4A537"/>
                </a:solidFill>
                <a:latin typeface="Bookman Old Style" pitchFamily="34" charset="0"/>
                <a:ea typeface="Bookman Old Style" pitchFamily="34" charset="-122"/>
                <a:cs typeface="Bookman Old Style" pitchFamily="34" charset="-120"/>
              </a:rPr>
              <a:t>STRONG bet</a:t>
            </a:r>
            <a:endParaRPr lang="en-US" sz="1400" dirty="0"/>
          </a:p>
        </p:txBody>
      </p:sp>
      <p:sp>
        <p:nvSpPr>
          <p:cNvPr id="41" name="Text 39"/>
          <p:cNvSpPr/>
          <p:nvPr/>
        </p:nvSpPr>
        <p:spPr>
          <a:xfrm>
            <a:off x="640080" y="5961888"/>
            <a:ext cx="10881360" cy="320040"/>
          </a:xfrm>
          <a:prstGeom prst="rect">
            <a:avLst/>
          </a:prstGeom>
          <a:noFill/>
          <a:ln/>
        </p:spPr>
        <p:txBody>
          <a:bodyPr wrap="square" lIns="0" tIns="0" rIns="0" bIns="0" rtlCol="0" anchor="ctr"/>
          <a:lstStyle/>
          <a:p>
            <a:pPr indent="0" marL="0">
              <a:buNone/>
            </a:pPr>
            <a:r>
              <a:rPr lang="en-US" sz="1300" i="1" dirty="0">
                <a:solidFill>
                  <a:srgbClr val="9FB8A9"/>
                </a:solidFill>
                <a:latin typeface="Calibri" pitchFamily="34" charset="0"/>
                <a:ea typeface="Calibri" pitchFamily="34" charset="-122"/>
                <a:cs typeface="Calibri" pitchFamily="34" charset="-120"/>
              </a:rPr>
              <a:t>About 5% of games qualify — roughly 70–110 bets a season.</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640080" y="457200"/>
            <a:ext cx="10881360" cy="274320"/>
          </a:xfrm>
          <a:prstGeom prst="rect">
            <a:avLst/>
          </a:prstGeom>
          <a:noFill/>
          <a:ln/>
        </p:spPr>
        <p:txBody>
          <a:bodyPr wrap="square" lIns="0" tIns="0" rIns="0" bIns="0" rtlCol="0" anchor="ctr"/>
          <a:lstStyle/>
          <a:p>
            <a:pPr indent="0" marL="0">
              <a:buNone/>
            </a:pPr>
            <a:r>
              <a:rPr lang="en-US" sz="1200" b="1" spc="200" kern="0" dirty="0">
                <a:solidFill>
                  <a:srgbClr val="2C5F4A"/>
                </a:solidFill>
                <a:latin typeface="Calibri" pitchFamily="34" charset="0"/>
                <a:ea typeface="Calibri" pitchFamily="34" charset="-122"/>
                <a:cs typeface="Calibri" pitchFamily="34" charset="-120"/>
              </a:rPr>
              <a:t>USING IT</a:t>
            </a:r>
            <a:endParaRPr lang="en-US" sz="1200" dirty="0"/>
          </a:p>
        </p:txBody>
      </p:sp>
      <p:sp>
        <p:nvSpPr>
          <p:cNvPr id="3" name="Text 1"/>
          <p:cNvSpPr/>
          <p:nvPr/>
        </p:nvSpPr>
        <p:spPr>
          <a:xfrm>
            <a:off x="640080" y="768096"/>
            <a:ext cx="10881360" cy="731520"/>
          </a:xfrm>
          <a:prstGeom prst="rect">
            <a:avLst/>
          </a:prstGeom>
          <a:noFill/>
          <a:ln/>
        </p:spPr>
        <p:txBody>
          <a:bodyPr wrap="square" lIns="0" tIns="0" rIns="0" bIns="0" rtlCol="0" anchor="ctr"/>
          <a:lstStyle/>
          <a:p>
            <a:pPr indent="0" marL="0">
              <a:buNone/>
            </a:pPr>
            <a:r>
              <a:rPr lang="en-US" sz="3400" b="1" dirty="0">
                <a:solidFill>
                  <a:srgbClr val="1B3A2F"/>
                </a:solidFill>
                <a:latin typeface="Bookman Old Style" pitchFamily="34" charset="0"/>
                <a:ea typeface="Bookman Old Style" pitchFamily="34" charset="-122"/>
                <a:cs typeface="Bookman Old Style" pitchFamily="34" charset="-120"/>
              </a:rPr>
              <a:t>The rules you'd actually follow</a:t>
            </a:r>
            <a:endParaRPr lang="en-US" sz="3400" dirty="0"/>
          </a:p>
        </p:txBody>
      </p:sp>
      <p:sp>
        <p:nvSpPr>
          <p:cNvPr id="4" name="Shape 2"/>
          <p:cNvSpPr/>
          <p:nvPr/>
        </p:nvSpPr>
        <p:spPr>
          <a:xfrm>
            <a:off x="640080" y="1481328"/>
            <a:ext cx="5303520" cy="1371600"/>
          </a:xfrm>
          <a:prstGeom prst="roundRect">
            <a:avLst>
              <a:gd name="adj" fmla="val 6667"/>
            </a:avLst>
          </a:prstGeom>
          <a:solidFill>
            <a:srgbClr val="FFFFFF"/>
          </a:solidFill>
          <a:ln w="12700">
            <a:solidFill>
              <a:srgbClr val="E2DFD5"/>
            </a:solidFill>
            <a:prstDash val="solid"/>
          </a:ln>
        </p:spPr>
      </p:sp>
      <p:sp>
        <p:nvSpPr>
          <p:cNvPr id="5" name="Shape 3"/>
          <p:cNvSpPr/>
          <p:nvPr/>
        </p:nvSpPr>
        <p:spPr>
          <a:xfrm>
            <a:off x="896112" y="1719072"/>
            <a:ext cx="457200" cy="457200"/>
          </a:xfrm>
          <a:prstGeom prst="ellipse">
            <a:avLst/>
          </a:prstGeom>
          <a:solidFill>
            <a:srgbClr val="D4A537"/>
          </a:solidFill>
          <a:ln w="12700">
            <a:solidFill>
              <a:srgbClr val="D4A537"/>
            </a:solidFill>
            <a:prstDash val="solid"/>
          </a:ln>
        </p:spPr>
      </p:sp>
      <p:sp>
        <p:nvSpPr>
          <p:cNvPr id="6" name="Text 4"/>
          <p:cNvSpPr/>
          <p:nvPr/>
        </p:nvSpPr>
        <p:spPr>
          <a:xfrm>
            <a:off x="896112" y="1719072"/>
            <a:ext cx="457200" cy="457200"/>
          </a:xfrm>
          <a:prstGeom prst="rect">
            <a:avLst/>
          </a:prstGeom>
          <a:noFill/>
          <a:ln/>
        </p:spPr>
        <p:txBody>
          <a:bodyPr wrap="square" lIns="0" tIns="0" rIns="0" bIns="0" rtlCol="0" anchor="ctr"/>
          <a:lstStyle/>
          <a:p>
            <a:pPr algn="ctr" indent="0" marL="0">
              <a:buNone/>
            </a:pPr>
            <a:r>
              <a:rPr lang="en-US" sz="1400" b="1" dirty="0">
                <a:solidFill>
                  <a:srgbClr val="1B3A2F"/>
                </a:solidFill>
                <a:latin typeface="Bookman Old Style" pitchFamily="34" charset="0"/>
                <a:ea typeface="Bookman Old Style" pitchFamily="34" charset="-122"/>
                <a:cs typeface="Bookman Old Style" pitchFamily="34" charset="-120"/>
              </a:rPr>
              <a:t>1</a:t>
            </a:r>
            <a:endParaRPr lang="en-US" sz="1400" dirty="0"/>
          </a:p>
        </p:txBody>
      </p:sp>
      <p:sp>
        <p:nvSpPr>
          <p:cNvPr id="7" name="Text 5"/>
          <p:cNvSpPr/>
          <p:nvPr/>
        </p:nvSpPr>
        <p:spPr>
          <a:xfrm>
            <a:off x="1481328" y="1700784"/>
            <a:ext cx="4251960" cy="310896"/>
          </a:xfrm>
          <a:prstGeom prst="rect">
            <a:avLst/>
          </a:prstGeom>
          <a:noFill/>
          <a:ln/>
        </p:spPr>
        <p:txBody>
          <a:bodyPr wrap="square" lIns="0" tIns="0" rIns="0" bIns="0" rtlCol="0" anchor="ctr"/>
          <a:lstStyle/>
          <a:p>
            <a:pPr indent="0" marL="0">
              <a:buNone/>
            </a:pPr>
            <a:r>
              <a:rPr lang="en-US" sz="1400" b="1" dirty="0">
                <a:solidFill>
                  <a:srgbClr val="1B3A2F"/>
                </a:solidFill>
                <a:latin typeface="Calibri" pitchFamily="34" charset="0"/>
                <a:ea typeface="Calibri" pitchFamily="34" charset="-122"/>
                <a:cs typeface="Calibri" pitchFamily="34" charset="-120"/>
              </a:rPr>
              <a:t>Only bet games that pass the filter</a:t>
            </a:r>
            <a:endParaRPr lang="en-US" sz="1400" dirty="0"/>
          </a:p>
        </p:txBody>
      </p:sp>
      <p:sp>
        <p:nvSpPr>
          <p:cNvPr id="8" name="Text 6"/>
          <p:cNvSpPr/>
          <p:nvPr/>
        </p:nvSpPr>
        <p:spPr>
          <a:xfrm>
            <a:off x="1481328" y="2029968"/>
            <a:ext cx="4251960" cy="685800"/>
          </a:xfrm>
          <a:prstGeom prst="rect">
            <a:avLst/>
          </a:prstGeom>
          <a:noFill/>
          <a:ln/>
        </p:spPr>
        <p:txBody>
          <a:bodyPr wrap="square" lIns="0" tIns="0" rIns="0" bIns="0" rtlCol="0" anchor="ctr"/>
          <a:lstStyle/>
          <a:p>
            <a:pPr indent="0" marL="0">
              <a:lnSpc>
                <a:spcPts val="1700"/>
              </a:lnSpc>
              <a:buNone/>
            </a:pPr>
            <a:r>
              <a:rPr lang="en-US" sz="1200" dirty="0">
                <a:solidFill>
                  <a:srgbClr val="1A1A18"/>
                </a:solidFill>
                <a:latin typeface="Calibri" pitchFamily="34" charset="0"/>
                <a:ea typeface="Calibri" pitchFamily="34" charset="-122"/>
                <a:cs typeface="Calibri" pitchFamily="34" charset="-120"/>
              </a:rPr>
              <a:t>Underdog expected points around 10 or below. Nothing else qualifies.</a:t>
            </a:r>
            <a:endParaRPr lang="en-US" sz="1200" dirty="0"/>
          </a:p>
        </p:txBody>
      </p:sp>
      <p:sp>
        <p:nvSpPr>
          <p:cNvPr id="9" name="Shape 7"/>
          <p:cNvSpPr/>
          <p:nvPr/>
        </p:nvSpPr>
        <p:spPr>
          <a:xfrm>
            <a:off x="6217920" y="1481328"/>
            <a:ext cx="5303520" cy="1371600"/>
          </a:xfrm>
          <a:prstGeom prst="roundRect">
            <a:avLst>
              <a:gd name="adj" fmla="val 6667"/>
            </a:avLst>
          </a:prstGeom>
          <a:solidFill>
            <a:srgbClr val="FFFFFF"/>
          </a:solidFill>
          <a:ln w="12700">
            <a:solidFill>
              <a:srgbClr val="E2DFD5"/>
            </a:solidFill>
            <a:prstDash val="solid"/>
          </a:ln>
        </p:spPr>
      </p:sp>
      <p:sp>
        <p:nvSpPr>
          <p:cNvPr id="10" name="Shape 8"/>
          <p:cNvSpPr/>
          <p:nvPr/>
        </p:nvSpPr>
        <p:spPr>
          <a:xfrm>
            <a:off x="6473952" y="1719072"/>
            <a:ext cx="457200" cy="457200"/>
          </a:xfrm>
          <a:prstGeom prst="ellipse">
            <a:avLst/>
          </a:prstGeom>
          <a:solidFill>
            <a:srgbClr val="D4A537"/>
          </a:solidFill>
          <a:ln w="12700">
            <a:solidFill>
              <a:srgbClr val="D4A537"/>
            </a:solidFill>
            <a:prstDash val="solid"/>
          </a:ln>
        </p:spPr>
      </p:sp>
      <p:sp>
        <p:nvSpPr>
          <p:cNvPr id="11" name="Text 9"/>
          <p:cNvSpPr/>
          <p:nvPr/>
        </p:nvSpPr>
        <p:spPr>
          <a:xfrm>
            <a:off x="6473952" y="1719072"/>
            <a:ext cx="457200" cy="457200"/>
          </a:xfrm>
          <a:prstGeom prst="rect">
            <a:avLst/>
          </a:prstGeom>
          <a:noFill/>
          <a:ln/>
        </p:spPr>
        <p:txBody>
          <a:bodyPr wrap="square" lIns="0" tIns="0" rIns="0" bIns="0" rtlCol="0" anchor="ctr"/>
          <a:lstStyle/>
          <a:p>
            <a:pPr algn="ctr" indent="0" marL="0">
              <a:buNone/>
            </a:pPr>
            <a:r>
              <a:rPr lang="en-US" sz="1400" b="1" dirty="0">
                <a:solidFill>
                  <a:srgbClr val="1B3A2F"/>
                </a:solidFill>
                <a:latin typeface="Bookman Old Style" pitchFamily="34" charset="0"/>
                <a:ea typeface="Bookman Old Style" pitchFamily="34" charset="-122"/>
                <a:cs typeface="Bookman Old Style" pitchFamily="34" charset="-120"/>
              </a:rPr>
              <a:t>2</a:t>
            </a:r>
            <a:endParaRPr lang="en-US" sz="1400" dirty="0"/>
          </a:p>
        </p:txBody>
      </p:sp>
      <p:sp>
        <p:nvSpPr>
          <p:cNvPr id="12" name="Text 10"/>
          <p:cNvSpPr/>
          <p:nvPr/>
        </p:nvSpPr>
        <p:spPr>
          <a:xfrm>
            <a:off x="7059168" y="1700784"/>
            <a:ext cx="4251960" cy="310896"/>
          </a:xfrm>
          <a:prstGeom prst="rect">
            <a:avLst/>
          </a:prstGeom>
          <a:noFill/>
          <a:ln/>
        </p:spPr>
        <p:txBody>
          <a:bodyPr wrap="square" lIns="0" tIns="0" rIns="0" bIns="0" rtlCol="0" anchor="ctr"/>
          <a:lstStyle/>
          <a:p>
            <a:pPr indent="0" marL="0">
              <a:buNone/>
            </a:pPr>
            <a:r>
              <a:rPr lang="en-US" sz="1400" b="1" dirty="0">
                <a:solidFill>
                  <a:srgbClr val="1B3A2F"/>
                </a:solidFill>
                <a:latin typeface="Calibri" pitchFamily="34" charset="0"/>
                <a:ea typeface="Calibri" pitchFamily="34" charset="-122"/>
                <a:cs typeface="Calibri" pitchFamily="34" charset="-120"/>
              </a:rPr>
              <a:t>Only bet the over on the full-game total</a:t>
            </a:r>
            <a:endParaRPr lang="en-US" sz="1400" dirty="0"/>
          </a:p>
        </p:txBody>
      </p:sp>
      <p:sp>
        <p:nvSpPr>
          <p:cNvPr id="13" name="Text 11"/>
          <p:cNvSpPr/>
          <p:nvPr/>
        </p:nvSpPr>
        <p:spPr>
          <a:xfrm>
            <a:off x="7059168" y="2029968"/>
            <a:ext cx="4251960" cy="685800"/>
          </a:xfrm>
          <a:prstGeom prst="rect">
            <a:avLst/>
          </a:prstGeom>
          <a:noFill/>
          <a:ln/>
        </p:spPr>
        <p:txBody>
          <a:bodyPr wrap="square" lIns="0" tIns="0" rIns="0" bIns="0" rtlCol="0" anchor="ctr"/>
          <a:lstStyle/>
          <a:p>
            <a:pPr indent="0" marL="0">
              <a:lnSpc>
                <a:spcPts val="1700"/>
              </a:lnSpc>
              <a:buNone/>
            </a:pPr>
            <a:r>
              <a:rPr lang="en-US" sz="1200" dirty="0">
                <a:solidFill>
                  <a:srgbClr val="1A1A18"/>
                </a:solidFill>
                <a:latin typeface="Calibri" pitchFamily="34" charset="0"/>
                <a:ea typeface="Calibri" pitchFamily="34" charset="-122"/>
                <a:cs typeface="Calibri" pitchFamily="34" charset="-120"/>
              </a:rPr>
              <a:t>Not the under. Not the spread. Not first-half or single-team bets — those are untested.</a:t>
            </a:r>
            <a:endParaRPr lang="en-US" sz="1200" dirty="0"/>
          </a:p>
        </p:txBody>
      </p:sp>
      <p:sp>
        <p:nvSpPr>
          <p:cNvPr id="14" name="Shape 12"/>
          <p:cNvSpPr/>
          <p:nvPr/>
        </p:nvSpPr>
        <p:spPr>
          <a:xfrm>
            <a:off x="640080" y="3054096"/>
            <a:ext cx="5303520" cy="1371600"/>
          </a:xfrm>
          <a:prstGeom prst="roundRect">
            <a:avLst>
              <a:gd name="adj" fmla="val 6667"/>
            </a:avLst>
          </a:prstGeom>
          <a:solidFill>
            <a:srgbClr val="FFFFFF"/>
          </a:solidFill>
          <a:ln w="12700">
            <a:solidFill>
              <a:srgbClr val="E2DFD5"/>
            </a:solidFill>
            <a:prstDash val="solid"/>
          </a:ln>
        </p:spPr>
      </p:sp>
      <p:sp>
        <p:nvSpPr>
          <p:cNvPr id="15" name="Shape 13"/>
          <p:cNvSpPr/>
          <p:nvPr/>
        </p:nvSpPr>
        <p:spPr>
          <a:xfrm>
            <a:off x="896112" y="3291840"/>
            <a:ext cx="457200" cy="457200"/>
          </a:xfrm>
          <a:prstGeom prst="ellipse">
            <a:avLst/>
          </a:prstGeom>
          <a:solidFill>
            <a:srgbClr val="D4A537"/>
          </a:solidFill>
          <a:ln w="12700">
            <a:solidFill>
              <a:srgbClr val="D4A537"/>
            </a:solidFill>
            <a:prstDash val="solid"/>
          </a:ln>
        </p:spPr>
      </p:sp>
      <p:sp>
        <p:nvSpPr>
          <p:cNvPr id="16" name="Text 14"/>
          <p:cNvSpPr/>
          <p:nvPr/>
        </p:nvSpPr>
        <p:spPr>
          <a:xfrm>
            <a:off x="896112" y="3291840"/>
            <a:ext cx="457200" cy="457200"/>
          </a:xfrm>
          <a:prstGeom prst="rect">
            <a:avLst/>
          </a:prstGeom>
          <a:noFill/>
          <a:ln/>
        </p:spPr>
        <p:txBody>
          <a:bodyPr wrap="square" lIns="0" tIns="0" rIns="0" bIns="0" rtlCol="0" anchor="ctr"/>
          <a:lstStyle/>
          <a:p>
            <a:pPr algn="ctr" indent="0" marL="0">
              <a:buNone/>
            </a:pPr>
            <a:r>
              <a:rPr lang="en-US" sz="1400" b="1" dirty="0">
                <a:solidFill>
                  <a:srgbClr val="1B3A2F"/>
                </a:solidFill>
                <a:latin typeface="Bookman Old Style" pitchFamily="34" charset="0"/>
                <a:ea typeface="Bookman Old Style" pitchFamily="34" charset="-122"/>
                <a:cs typeface="Bookman Old Style" pitchFamily="34" charset="-120"/>
              </a:rPr>
              <a:t>3</a:t>
            </a:r>
            <a:endParaRPr lang="en-US" sz="1400" dirty="0"/>
          </a:p>
        </p:txBody>
      </p:sp>
      <p:sp>
        <p:nvSpPr>
          <p:cNvPr id="17" name="Text 15"/>
          <p:cNvSpPr/>
          <p:nvPr/>
        </p:nvSpPr>
        <p:spPr>
          <a:xfrm>
            <a:off x="1481328" y="3273552"/>
            <a:ext cx="4251960" cy="310896"/>
          </a:xfrm>
          <a:prstGeom prst="rect">
            <a:avLst/>
          </a:prstGeom>
          <a:noFill/>
          <a:ln/>
        </p:spPr>
        <p:txBody>
          <a:bodyPr wrap="square" lIns="0" tIns="0" rIns="0" bIns="0" rtlCol="0" anchor="ctr"/>
          <a:lstStyle/>
          <a:p>
            <a:pPr indent="0" marL="0">
              <a:buNone/>
            </a:pPr>
            <a:r>
              <a:rPr lang="en-US" sz="1400" b="1" dirty="0">
                <a:solidFill>
                  <a:srgbClr val="1B3A2F"/>
                </a:solidFill>
                <a:latin typeface="Calibri" pitchFamily="34" charset="0"/>
                <a:ea typeface="Calibri" pitchFamily="34" charset="-122"/>
                <a:cs typeface="Calibri" pitchFamily="34" charset="-120"/>
              </a:rPr>
              <a:t>Refuse a bad price</a:t>
            </a:r>
            <a:endParaRPr lang="en-US" sz="1400" dirty="0"/>
          </a:p>
        </p:txBody>
      </p:sp>
      <p:sp>
        <p:nvSpPr>
          <p:cNvPr id="18" name="Text 16"/>
          <p:cNvSpPr/>
          <p:nvPr/>
        </p:nvSpPr>
        <p:spPr>
          <a:xfrm>
            <a:off x="1481328" y="3602736"/>
            <a:ext cx="4251960" cy="685800"/>
          </a:xfrm>
          <a:prstGeom prst="rect">
            <a:avLst/>
          </a:prstGeom>
          <a:noFill/>
          <a:ln/>
        </p:spPr>
        <p:txBody>
          <a:bodyPr wrap="square" lIns="0" tIns="0" rIns="0" bIns="0" rtlCol="0" anchor="ctr"/>
          <a:lstStyle/>
          <a:p>
            <a:pPr indent="0" marL="0">
              <a:lnSpc>
                <a:spcPts val="1700"/>
              </a:lnSpc>
              <a:buNone/>
            </a:pPr>
            <a:r>
              <a:rPr lang="en-US" sz="1200" dirty="0">
                <a:solidFill>
                  <a:srgbClr val="1A1A18"/>
                </a:solidFill>
                <a:latin typeface="Calibri" pitchFamily="34" charset="0"/>
                <a:ea typeface="Calibri" pitchFamily="34" charset="-122"/>
                <a:cs typeface="Calibri" pitchFamily="34" charset="-120"/>
              </a:rPr>
              <a:t>Take −110 or better. Worse pricing eats most of the edge — this filter is not optional.</a:t>
            </a:r>
            <a:endParaRPr lang="en-US" sz="1200" dirty="0"/>
          </a:p>
        </p:txBody>
      </p:sp>
      <p:sp>
        <p:nvSpPr>
          <p:cNvPr id="19" name="Shape 17"/>
          <p:cNvSpPr/>
          <p:nvPr/>
        </p:nvSpPr>
        <p:spPr>
          <a:xfrm>
            <a:off x="6217920" y="3054096"/>
            <a:ext cx="5303520" cy="1371600"/>
          </a:xfrm>
          <a:prstGeom prst="roundRect">
            <a:avLst>
              <a:gd name="adj" fmla="val 6667"/>
            </a:avLst>
          </a:prstGeom>
          <a:solidFill>
            <a:srgbClr val="FFFFFF"/>
          </a:solidFill>
          <a:ln w="12700">
            <a:solidFill>
              <a:srgbClr val="E2DFD5"/>
            </a:solidFill>
            <a:prstDash val="solid"/>
          </a:ln>
        </p:spPr>
      </p:sp>
      <p:sp>
        <p:nvSpPr>
          <p:cNvPr id="20" name="Shape 18"/>
          <p:cNvSpPr/>
          <p:nvPr/>
        </p:nvSpPr>
        <p:spPr>
          <a:xfrm>
            <a:off x="6473952" y="3291840"/>
            <a:ext cx="457200" cy="457200"/>
          </a:xfrm>
          <a:prstGeom prst="ellipse">
            <a:avLst/>
          </a:prstGeom>
          <a:solidFill>
            <a:srgbClr val="D4A537"/>
          </a:solidFill>
          <a:ln w="12700">
            <a:solidFill>
              <a:srgbClr val="D4A537"/>
            </a:solidFill>
            <a:prstDash val="solid"/>
          </a:ln>
        </p:spPr>
      </p:sp>
      <p:sp>
        <p:nvSpPr>
          <p:cNvPr id="21" name="Text 19"/>
          <p:cNvSpPr/>
          <p:nvPr/>
        </p:nvSpPr>
        <p:spPr>
          <a:xfrm>
            <a:off x="6473952" y="3291840"/>
            <a:ext cx="457200" cy="457200"/>
          </a:xfrm>
          <a:prstGeom prst="rect">
            <a:avLst/>
          </a:prstGeom>
          <a:noFill/>
          <a:ln/>
        </p:spPr>
        <p:txBody>
          <a:bodyPr wrap="square" lIns="0" tIns="0" rIns="0" bIns="0" rtlCol="0" anchor="ctr"/>
          <a:lstStyle/>
          <a:p>
            <a:pPr algn="ctr" indent="0" marL="0">
              <a:buNone/>
            </a:pPr>
            <a:r>
              <a:rPr lang="en-US" sz="1400" b="1" dirty="0">
                <a:solidFill>
                  <a:srgbClr val="1B3A2F"/>
                </a:solidFill>
                <a:latin typeface="Bookman Old Style" pitchFamily="34" charset="0"/>
                <a:ea typeface="Bookman Old Style" pitchFamily="34" charset="-122"/>
                <a:cs typeface="Bookman Old Style" pitchFamily="34" charset="-120"/>
              </a:rPr>
              <a:t>4</a:t>
            </a:r>
            <a:endParaRPr lang="en-US" sz="1400" dirty="0"/>
          </a:p>
        </p:txBody>
      </p:sp>
      <p:sp>
        <p:nvSpPr>
          <p:cNvPr id="22" name="Text 20"/>
          <p:cNvSpPr/>
          <p:nvPr/>
        </p:nvSpPr>
        <p:spPr>
          <a:xfrm>
            <a:off x="7059168" y="3273552"/>
            <a:ext cx="4251960" cy="310896"/>
          </a:xfrm>
          <a:prstGeom prst="rect">
            <a:avLst/>
          </a:prstGeom>
          <a:noFill/>
          <a:ln/>
        </p:spPr>
        <p:txBody>
          <a:bodyPr wrap="square" lIns="0" tIns="0" rIns="0" bIns="0" rtlCol="0" anchor="ctr"/>
          <a:lstStyle/>
          <a:p>
            <a:pPr indent="0" marL="0">
              <a:buNone/>
            </a:pPr>
            <a:r>
              <a:rPr lang="en-US" sz="1400" b="1" dirty="0">
                <a:solidFill>
                  <a:srgbClr val="1B3A2F"/>
                </a:solidFill>
                <a:latin typeface="Calibri" pitchFamily="34" charset="0"/>
                <a:ea typeface="Calibri" pitchFamily="34" charset="-122"/>
                <a:cs typeface="Calibri" pitchFamily="34" charset="-120"/>
              </a:rPr>
              <a:t>Take the lowest total available</a:t>
            </a:r>
            <a:endParaRPr lang="en-US" sz="1400" dirty="0"/>
          </a:p>
        </p:txBody>
      </p:sp>
      <p:sp>
        <p:nvSpPr>
          <p:cNvPr id="23" name="Text 21"/>
          <p:cNvSpPr/>
          <p:nvPr/>
        </p:nvSpPr>
        <p:spPr>
          <a:xfrm>
            <a:off x="7059168" y="3602736"/>
            <a:ext cx="4251960" cy="685800"/>
          </a:xfrm>
          <a:prstGeom prst="rect">
            <a:avLst/>
          </a:prstGeom>
          <a:noFill/>
          <a:ln/>
        </p:spPr>
        <p:txBody>
          <a:bodyPr wrap="square" lIns="0" tIns="0" rIns="0" bIns="0" rtlCol="0" anchor="ctr"/>
          <a:lstStyle/>
          <a:p>
            <a:pPr indent="0" marL="0">
              <a:lnSpc>
                <a:spcPts val="1700"/>
              </a:lnSpc>
              <a:buNone/>
            </a:pPr>
            <a:r>
              <a:rPr lang="en-US" sz="1200" dirty="0">
                <a:solidFill>
                  <a:srgbClr val="1A1A18"/>
                </a:solidFill>
                <a:latin typeface="Calibri" pitchFamily="34" charset="0"/>
                <a:ea typeface="Calibri" pitchFamily="34" charset="-122"/>
                <a:cs typeface="Calibri" pitchFamily="34" charset="-120"/>
              </a:rPr>
              <a:t>Shop between sportsbooks. Every point matters, and a lower number is strictly better for an over.</a:t>
            </a:r>
            <a:endParaRPr lang="en-US" sz="1200" dirty="0"/>
          </a:p>
        </p:txBody>
      </p:sp>
      <p:sp>
        <p:nvSpPr>
          <p:cNvPr id="24" name="Shape 22"/>
          <p:cNvSpPr/>
          <p:nvPr/>
        </p:nvSpPr>
        <p:spPr>
          <a:xfrm>
            <a:off x="640080" y="4626864"/>
            <a:ext cx="5303520" cy="1371600"/>
          </a:xfrm>
          <a:prstGeom prst="roundRect">
            <a:avLst>
              <a:gd name="adj" fmla="val 6667"/>
            </a:avLst>
          </a:prstGeom>
          <a:solidFill>
            <a:srgbClr val="FFFFFF"/>
          </a:solidFill>
          <a:ln w="12700">
            <a:solidFill>
              <a:srgbClr val="E2DFD5"/>
            </a:solidFill>
            <a:prstDash val="solid"/>
          </a:ln>
        </p:spPr>
      </p:sp>
      <p:sp>
        <p:nvSpPr>
          <p:cNvPr id="25" name="Shape 23"/>
          <p:cNvSpPr/>
          <p:nvPr/>
        </p:nvSpPr>
        <p:spPr>
          <a:xfrm>
            <a:off x="896112" y="4864608"/>
            <a:ext cx="457200" cy="457200"/>
          </a:xfrm>
          <a:prstGeom prst="ellipse">
            <a:avLst/>
          </a:prstGeom>
          <a:solidFill>
            <a:srgbClr val="D4A537"/>
          </a:solidFill>
          <a:ln w="12700">
            <a:solidFill>
              <a:srgbClr val="D4A537"/>
            </a:solidFill>
            <a:prstDash val="solid"/>
          </a:ln>
        </p:spPr>
      </p:sp>
      <p:sp>
        <p:nvSpPr>
          <p:cNvPr id="26" name="Text 24"/>
          <p:cNvSpPr/>
          <p:nvPr/>
        </p:nvSpPr>
        <p:spPr>
          <a:xfrm>
            <a:off x="896112" y="4864608"/>
            <a:ext cx="457200" cy="457200"/>
          </a:xfrm>
          <a:prstGeom prst="rect">
            <a:avLst/>
          </a:prstGeom>
          <a:noFill/>
          <a:ln/>
        </p:spPr>
        <p:txBody>
          <a:bodyPr wrap="square" lIns="0" tIns="0" rIns="0" bIns="0" rtlCol="0" anchor="ctr"/>
          <a:lstStyle/>
          <a:p>
            <a:pPr algn="ctr" indent="0" marL="0">
              <a:buNone/>
            </a:pPr>
            <a:r>
              <a:rPr lang="en-US" sz="1400" b="1" dirty="0">
                <a:solidFill>
                  <a:srgbClr val="1B3A2F"/>
                </a:solidFill>
                <a:latin typeface="Bookman Old Style" pitchFamily="34" charset="0"/>
                <a:ea typeface="Bookman Old Style" pitchFamily="34" charset="-122"/>
                <a:cs typeface="Bookman Old Style" pitchFamily="34" charset="-120"/>
              </a:rPr>
              <a:t>5</a:t>
            </a:r>
            <a:endParaRPr lang="en-US" sz="1400" dirty="0"/>
          </a:p>
        </p:txBody>
      </p:sp>
      <p:sp>
        <p:nvSpPr>
          <p:cNvPr id="27" name="Text 25"/>
          <p:cNvSpPr/>
          <p:nvPr/>
        </p:nvSpPr>
        <p:spPr>
          <a:xfrm>
            <a:off x="1481328" y="4846320"/>
            <a:ext cx="4251960" cy="310896"/>
          </a:xfrm>
          <a:prstGeom prst="rect">
            <a:avLst/>
          </a:prstGeom>
          <a:noFill/>
          <a:ln/>
        </p:spPr>
        <p:txBody>
          <a:bodyPr wrap="square" lIns="0" tIns="0" rIns="0" bIns="0" rtlCol="0" anchor="ctr"/>
          <a:lstStyle/>
          <a:p>
            <a:pPr indent="0" marL="0">
              <a:buNone/>
            </a:pPr>
            <a:r>
              <a:rPr lang="en-US" sz="1400" b="1" dirty="0">
                <a:solidFill>
                  <a:srgbClr val="1B3A2F"/>
                </a:solidFill>
                <a:latin typeface="Calibri" pitchFamily="34" charset="0"/>
                <a:ea typeface="Calibri" pitchFamily="34" charset="-122"/>
                <a:cs typeface="Calibri" pitchFamily="34" charset="-120"/>
              </a:rPr>
              <a:t>Bet small and flat</a:t>
            </a:r>
            <a:endParaRPr lang="en-US" sz="1400" dirty="0"/>
          </a:p>
        </p:txBody>
      </p:sp>
      <p:sp>
        <p:nvSpPr>
          <p:cNvPr id="28" name="Text 26"/>
          <p:cNvSpPr/>
          <p:nvPr/>
        </p:nvSpPr>
        <p:spPr>
          <a:xfrm>
            <a:off x="1481328" y="5175504"/>
            <a:ext cx="4251960" cy="685800"/>
          </a:xfrm>
          <a:prstGeom prst="rect">
            <a:avLst/>
          </a:prstGeom>
          <a:noFill/>
          <a:ln/>
        </p:spPr>
        <p:txBody>
          <a:bodyPr wrap="square" lIns="0" tIns="0" rIns="0" bIns="0" rtlCol="0" anchor="ctr"/>
          <a:lstStyle/>
          <a:p>
            <a:pPr indent="0" marL="0">
              <a:lnSpc>
                <a:spcPts val="1700"/>
              </a:lnSpc>
              <a:buNone/>
            </a:pPr>
            <a:r>
              <a:rPr lang="en-US" sz="1200" dirty="0">
                <a:solidFill>
                  <a:srgbClr val="1A1A18"/>
                </a:solidFill>
                <a:latin typeface="Calibri" pitchFamily="34" charset="0"/>
                <a:ea typeface="Calibri" pitchFamily="34" charset="-122"/>
                <a:cs typeface="Calibri" pitchFamily="34" charset="-120"/>
              </a:rPr>
              <a:t>About 1% of your bankroll per bet, the same amount every time. No chasing, no doubling up.</a:t>
            </a:r>
            <a:endParaRPr lang="en-US" sz="1200" dirty="0"/>
          </a:p>
        </p:txBody>
      </p:sp>
      <p:sp>
        <p:nvSpPr>
          <p:cNvPr id="29" name="Shape 27"/>
          <p:cNvSpPr/>
          <p:nvPr/>
        </p:nvSpPr>
        <p:spPr>
          <a:xfrm>
            <a:off x="6217920" y="4626864"/>
            <a:ext cx="5303520" cy="1371600"/>
          </a:xfrm>
          <a:prstGeom prst="roundRect">
            <a:avLst>
              <a:gd name="adj" fmla="val 6667"/>
            </a:avLst>
          </a:prstGeom>
          <a:solidFill>
            <a:srgbClr val="FFFFFF"/>
          </a:solidFill>
          <a:ln w="12700">
            <a:solidFill>
              <a:srgbClr val="E2DFD5"/>
            </a:solidFill>
            <a:prstDash val="solid"/>
          </a:ln>
        </p:spPr>
      </p:sp>
      <p:sp>
        <p:nvSpPr>
          <p:cNvPr id="30" name="Shape 28"/>
          <p:cNvSpPr/>
          <p:nvPr/>
        </p:nvSpPr>
        <p:spPr>
          <a:xfrm>
            <a:off x="6473952" y="4864608"/>
            <a:ext cx="457200" cy="457200"/>
          </a:xfrm>
          <a:prstGeom prst="ellipse">
            <a:avLst/>
          </a:prstGeom>
          <a:solidFill>
            <a:srgbClr val="D4A537"/>
          </a:solidFill>
          <a:ln w="12700">
            <a:solidFill>
              <a:srgbClr val="D4A537"/>
            </a:solidFill>
            <a:prstDash val="solid"/>
          </a:ln>
        </p:spPr>
      </p:sp>
      <p:sp>
        <p:nvSpPr>
          <p:cNvPr id="31" name="Text 29"/>
          <p:cNvSpPr/>
          <p:nvPr/>
        </p:nvSpPr>
        <p:spPr>
          <a:xfrm>
            <a:off x="6473952" y="4864608"/>
            <a:ext cx="457200" cy="457200"/>
          </a:xfrm>
          <a:prstGeom prst="rect">
            <a:avLst/>
          </a:prstGeom>
          <a:noFill/>
          <a:ln/>
        </p:spPr>
        <p:txBody>
          <a:bodyPr wrap="square" lIns="0" tIns="0" rIns="0" bIns="0" rtlCol="0" anchor="ctr"/>
          <a:lstStyle/>
          <a:p>
            <a:pPr algn="ctr" indent="0" marL="0">
              <a:buNone/>
            </a:pPr>
            <a:r>
              <a:rPr lang="en-US" sz="1400" b="1" dirty="0">
                <a:solidFill>
                  <a:srgbClr val="1B3A2F"/>
                </a:solidFill>
                <a:latin typeface="Bookman Old Style" pitchFamily="34" charset="0"/>
                <a:ea typeface="Bookman Old Style" pitchFamily="34" charset="-122"/>
                <a:cs typeface="Bookman Old Style" pitchFamily="34" charset="-120"/>
              </a:rPr>
              <a:t>6</a:t>
            </a:r>
            <a:endParaRPr lang="en-US" sz="1400" dirty="0"/>
          </a:p>
        </p:txBody>
      </p:sp>
      <p:sp>
        <p:nvSpPr>
          <p:cNvPr id="32" name="Text 30"/>
          <p:cNvSpPr/>
          <p:nvPr/>
        </p:nvSpPr>
        <p:spPr>
          <a:xfrm>
            <a:off x="7059168" y="4846320"/>
            <a:ext cx="4251960" cy="310896"/>
          </a:xfrm>
          <a:prstGeom prst="rect">
            <a:avLst/>
          </a:prstGeom>
          <a:noFill/>
          <a:ln/>
        </p:spPr>
        <p:txBody>
          <a:bodyPr wrap="square" lIns="0" tIns="0" rIns="0" bIns="0" rtlCol="0" anchor="ctr"/>
          <a:lstStyle/>
          <a:p>
            <a:pPr indent="0" marL="0">
              <a:buNone/>
            </a:pPr>
            <a:r>
              <a:rPr lang="en-US" sz="1400" b="1" dirty="0">
                <a:solidFill>
                  <a:srgbClr val="1B3A2F"/>
                </a:solidFill>
                <a:latin typeface="Calibri" pitchFamily="34" charset="0"/>
                <a:ea typeface="Calibri" pitchFamily="34" charset="-122"/>
                <a:cs typeface="Calibri" pitchFamily="34" charset="-120"/>
              </a:rPr>
              <a:t>Recheck if the line moves</a:t>
            </a:r>
            <a:endParaRPr lang="en-US" sz="1400" dirty="0"/>
          </a:p>
        </p:txBody>
      </p:sp>
      <p:sp>
        <p:nvSpPr>
          <p:cNvPr id="33" name="Text 31"/>
          <p:cNvSpPr/>
          <p:nvPr/>
        </p:nvSpPr>
        <p:spPr>
          <a:xfrm>
            <a:off x="7059168" y="5175504"/>
            <a:ext cx="4251960" cy="685800"/>
          </a:xfrm>
          <a:prstGeom prst="rect">
            <a:avLst/>
          </a:prstGeom>
          <a:noFill/>
          <a:ln/>
        </p:spPr>
        <p:txBody>
          <a:bodyPr wrap="square" lIns="0" tIns="0" rIns="0" bIns="0" rtlCol="0" anchor="ctr"/>
          <a:lstStyle/>
          <a:p>
            <a:pPr indent="0" marL="0">
              <a:lnSpc>
                <a:spcPts val="1700"/>
              </a:lnSpc>
              <a:buNone/>
            </a:pPr>
            <a:r>
              <a:rPr lang="en-US" sz="1200" dirty="0">
                <a:solidFill>
                  <a:srgbClr val="1A1A18"/>
                </a:solidFill>
                <a:latin typeface="Calibri" pitchFamily="34" charset="0"/>
                <a:ea typeface="Calibri" pitchFamily="34" charset="-122"/>
                <a:cs typeface="Calibri" pitchFamily="34" charset="-120"/>
              </a:rPr>
              <a:t>The verdict depends on the current numbers. New numbers, new calculation.</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B3A2F"/>
        </a:solidFill>
      </p:bgPr>
    </p:bg>
    <p:spTree>
      <p:nvGrpSpPr>
        <p:cNvPr id="1" name=""/>
        <p:cNvGrpSpPr/>
        <p:nvPr/>
      </p:nvGrpSpPr>
      <p:grpSpPr>
        <a:xfrm>
          <a:off x="0" y="0"/>
          <a:ext cx="0" cy="0"/>
          <a:chOff x="0" y="0"/>
          <a:chExt cx="0" cy="0"/>
        </a:xfrm>
      </p:grpSpPr>
      <p:sp>
        <p:nvSpPr>
          <p:cNvPr id="2" name="Text 0"/>
          <p:cNvSpPr/>
          <p:nvPr/>
        </p:nvSpPr>
        <p:spPr>
          <a:xfrm>
            <a:off x="640080" y="475488"/>
            <a:ext cx="10881360" cy="274320"/>
          </a:xfrm>
          <a:prstGeom prst="rect">
            <a:avLst/>
          </a:prstGeom>
          <a:noFill/>
          <a:ln/>
        </p:spPr>
        <p:txBody>
          <a:bodyPr wrap="square" lIns="0" tIns="0" rIns="0" bIns="0" rtlCol="0" anchor="ctr"/>
          <a:lstStyle/>
          <a:p>
            <a:pPr indent="0" marL="0">
              <a:buNone/>
            </a:pPr>
            <a:r>
              <a:rPr lang="en-US" sz="1200" b="1" spc="200" kern="0" dirty="0">
                <a:solidFill>
                  <a:srgbClr val="D4A537"/>
                </a:solidFill>
                <a:latin typeface="Calibri" pitchFamily="34" charset="0"/>
                <a:ea typeface="Calibri" pitchFamily="34" charset="-122"/>
                <a:cs typeface="Calibri" pitchFamily="34" charset="-120"/>
              </a:rPr>
              <a:t>BEING HONEST</a:t>
            </a:r>
            <a:endParaRPr lang="en-US" sz="1200" dirty="0"/>
          </a:p>
        </p:txBody>
      </p:sp>
      <p:sp>
        <p:nvSpPr>
          <p:cNvPr id="3" name="Text 1"/>
          <p:cNvSpPr/>
          <p:nvPr/>
        </p:nvSpPr>
        <p:spPr>
          <a:xfrm>
            <a:off x="640080" y="786384"/>
            <a:ext cx="10881360" cy="868680"/>
          </a:xfrm>
          <a:prstGeom prst="rect">
            <a:avLst/>
          </a:prstGeom>
          <a:noFill/>
          <a:ln/>
        </p:spPr>
        <p:txBody>
          <a:bodyPr wrap="square" lIns="0" tIns="0" rIns="0" bIns="0" rtlCol="0" anchor="ctr"/>
          <a:lstStyle/>
          <a:p>
            <a:pPr indent="0" marL="0">
              <a:buNone/>
            </a:pPr>
            <a:r>
              <a:rPr lang="en-US" sz="3800" b="1" dirty="0">
                <a:solidFill>
                  <a:srgbClr val="FFFFFF"/>
                </a:solidFill>
                <a:latin typeface="Bookman Old Style" pitchFamily="34" charset="0"/>
                <a:ea typeface="Bookman Old Style" pitchFamily="34" charset="-122"/>
                <a:cs typeface="Bookman Old Style" pitchFamily="34" charset="-120"/>
              </a:rPr>
              <a:t>What goes wrong</a:t>
            </a:r>
            <a:endParaRPr lang="en-US" sz="3800" dirty="0"/>
          </a:p>
        </p:txBody>
      </p:sp>
      <p:sp>
        <p:nvSpPr>
          <p:cNvPr id="4" name="Shape 2"/>
          <p:cNvSpPr/>
          <p:nvPr/>
        </p:nvSpPr>
        <p:spPr>
          <a:xfrm>
            <a:off x="640080" y="1572768"/>
            <a:ext cx="10881360" cy="987552"/>
          </a:xfrm>
          <a:prstGeom prst="roundRect">
            <a:avLst>
              <a:gd name="adj" fmla="val 9259"/>
            </a:avLst>
          </a:prstGeom>
          <a:solidFill>
            <a:srgbClr val="24483A"/>
          </a:solidFill>
          <a:ln w="12700">
            <a:solidFill>
              <a:srgbClr val="24483A"/>
            </a:solidFill>
            <a:prstDash val="solid"/>
          </a:ln>
        </p:spPr>
      </p:sp>
      <p:sp>
        <p:nvSpPr>
          <p:cNvPr id="5" name="Shape 3"/>
          <p:cNvSpPr/>
          <p:nvPr/>
        </p:nvSpPr>
        <p:spPr>
          <a:xfrm>
            <a:off x="932688" y="1828800"/>
            <a:ext cx="457200" cy="457200"/>
          </a:xfrm>
          <a:prstGeom prst="ellipse">
            <a:avLst/>
          </a:prstGeom>
          <a:solidFill>
            <a:srgbClr val="A33A2E"/>
          </a:solidFill>
          <a:ln w="12700">
            <a:solidFill>
              <a:srgbClr val="A33A2E"/>
            </a:solidFill>
            <a:prstDash val="solid"/>
          </a:ln>
        </p:spPr>
      </p:sp>
      <p:sp>
        <p:nvSpPr>
          <p:cNvPr id="6" name="Text 4"/>
          <p:cNvSpPr/>
          <p:nvPr/>
        </p:nvSpPr>
        <p:spPr>
          <a:xfrm>
            <a:off x="932688" y="182880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Bookman Old Style" pitchFamily="34" charset="0"/>
                <a:ea typeface="Bookman Old Style" pitchFamily="34" charset="-122"/>
                <a:cs typeface="Bookman Old Style" pitchFamily="34" charset="-120"/>
              </a:rPr>
              <a:t>!</a:t>
            </a:r>
            <a:endParaRPr lang="en-US" sz="1500" dirty="0"/>
          </a:p>
        </p:txBody>
      </p:sp>
      <p:sp>
        <p:nvSpPr>
          <p:cNvPr id="7" name="Text 5"/>
          <p:cNvSpPr/>
          <p:nvPr/>
        </p:nvSpPr>
        <p:spPr>
          <a:xfrm>
            <a:off x="1572768" y="1719072"/>
            <a:ext cx="9601200" cy="310896"/>
          </a:xfrm>
          <a:prstGeom prst="rect">
            <a:avLst/>
          </a:prstGeom>
          <a:noFill/>
          <a:ln/>
        </p:spPr>
        <p:txBody>
          <a:bodyPr wrap="square" lIns="0" tIns="0" rIns="0" bIns="0" rtlCol="0" anchor="ctr"/>
          <a:lstStyle/>
          <a:p>
            <a:pPr indent="0" marL="0">
              <a:buNone/>
            </a:pPr>
            <a:r>
              <a:rPr lang="en-US" sz="1500" b="1" dirty="0">
                <a:solidFill>
                  <a:srgbClr val="D4A537"/>
                </a:solidFill>
                <a:latin typeface="Calibri" pitchFamily="34" charset="0"/>
                <a:ea typeface="Calibri" pitchFamily="34" charset="-122"/>
                <a:cs typeface="Calibri" pitchFamily="34" charset="-120"/>
              </a:rPr>
              <a:t>A losing season is normal</a:t>
            </a:r>
            <a:endParaRPr lang="en-US" sz="1500" dirty="0"/>
          </a:p>
        </p:txBody>
      </p:sp>
      <p:sp>
        <p:nvSpPr>
          <p:cNvPr id="8" name="Text 6"/>
          <p:cNvSpPr/>
          <p:nvPr/>
        </p:nvSpPr>
        <p:spPr>
          <a:xfrm>
            <a:off x="1572768" y="2029968"/>
            <a:ext cx="9601200" cy="457200"/>
          </a:xfrm>
          <a:prstGeom prst="rect">
            <a:avLst/>
          </a:prstGeom>
          <a:noFill/>
          <a:ln/>
        </p:spPr>
        <p:txBody>
          <a:bodyPr wrap="square" lIns="0" tIns="0" rIns="0" bIns="0" rtlCol="0" anchor="ctr"/>
          <a:lstStyle/>
          <a:p>
            <a:pPr indent="0" marL="0">
              <a:lnSpc>
                <a:spcPts val="1800"/>
              </a:lnSpc>
              <a:buNone/>
            </a:pPr>
            <a:r>
              <a:rPr lang="en-US" sz="1250" dirty="0">
                <a:solidFill>
                  <a:srgbClr val="B8CCC0"/>
                </a:solidFill>
                <a:latin typeface="Calibri" pitchFamily="34" charset="0"/>
                <a:ea typeface="Calibri" pitchFamily="34" charset="-122"/>
                <a:cs typeface="Calibri" pitchFamily="34" charset="-120"/>
              </a:rPr>
              <a:t>Roughly one season in five loses money even if the edge is completely real. One test season lost 8%. That is the model working as expected, not breaking.</a:t>
            </a:r>
            <a:endParaRPr lang="en-US" sz="1250" dirty="0"/>
          </a:p>
        </p:txBody>
      </p:sp>
      <p:sp>
        <p:nvSpPr>
          <p:cNvPr id="9" name="Shape 7"/>
          <p:cNvSpPr/>
          <p:nvPr/>
        </p:nvSpPr>
        <p:spPr>
          <a:xfrm>
            <a:off x="640080" y="2706624"/>
            <a:ext cx="10881360" cy="987552"/>
          </a:xfrm>
          <a:prstGeom prst="roundRect">
            <a:avLst>
              <a:gd name="adj" fmla="val 9259"/>
            </a:avLst>
          </a:prstGeom>
          <a:solidFill>
            <a:srgbClr val="24483A"/>
          </a:solidFill>
          <a:ln w="12700">
            <a:solidFill>
              <a:srgbClr val="24483A"/>
            </a:solidFill>
            <a:prstDash val="solid"/>
          </a:ln>
        </p:spPr>
      </p:sp>
      <p:sp>
        <p:nvSpPr>
          <p:cNvPr id="10" name="Shape 8"/>
          <p:cNvSpPr/>
          <p:nvPr/>
        </p:nvSpPr>
        <p:spPr>
          <a:xfrm>
            <a:off x="932688" y="2962656"/>
            <a:ext cx="457200" cy="457200"/>
          </a:xfrm>
          <a:prstGeom prst="ellipse">
            <a:avLst/>
          </a:prstGeom>
          <a:solidFill>
            <a:srgbClr val="A33A2E"/>
          </a:solidFill>
          <a:ln w="12700">
            <a:solidFill>
              <a:srgbClr val="A33A2E"/>
            </a:solidFill>
            <a:prstDash val="solid"/>
          </a:ln>
        </p:spPr>
      </p:sp>
      <p:sp>
        <p:nvSpPr>
          <p:cNvPr id="11" name="Text 9"/>
          <p:cNvSpPr/>
          <p:nvPr/>
        </p:nvSpPr>
        <p:spPr>
          <a:xfrm>
            <a:off x="932688" y="2962656"/>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Bookman Old Style" pitchFamily="34" charset="0"/>
                <a:ea typeface="Bookman Old Style" pitchFamily="34" charset="-122"/>
                <a:cs typeface="Bookman Old Style" pitchFamily="34" charset="-120"/>
              </a:rPr>
              <a:t>!</a:t>
            </a:r>
            <a:endParaRPr lang="en-US" sz="1500" dirty="0"/>
          </a:p>
        </p:txBody>
      </p:sp>
      <p:sp>
        <p:nvSpPr>
          <p:cNvPr id="12" name="Text 10"/>
          <p:cNvSpPr/>
          <p:nvPr/>
        </p:nvSpPr>
        <p:spPr>
          <a:xfrm>
            <a:off x="1572768" y="2852928"/>
            <a:ext cx="9601200" cy="310896"/>
          </a:xfrm>
          <a:prstGeom prst="rect">
            <a:avLst/>
          </a:prstGeom>
          <a:noFill/>
          <a:ln/>
        </p:spPr>
        <p:txBody>
          <a:bodyPr wrap="square" lIns="0" tIns="0" rIns="0" bIns="0" rtlCol="0" anchor="ctr"/>
          <a:lstStyle/>
          <a:p>
            <a:pPr indent="0" marL="0">
              <a:buNone/>
            </a:pPr>
            <a:r>
              <a:rPr lang="en-US" sz="1500" b="1" dirty="0">
                <a:solidFill>
                  <a:srgbClr val="D4A537"/>
                </a:solidFill>
                <a:latin typeface="Calibri" pitchFamily="34" charset="0"/>
                <a:ea typeface="Calibri" pitchFamily="34" charset="-122"/>
                <a:cs typeface="Calibri" pitchFamily="34" charset="-120"/>
              </a:rPr>
              <a:t>The edge is modest, not massive</a:t>
            </a:r>
            <a:endParaRPr lang="en-US" sz="1500" dirty="0"/>
          </a:p>
        </p:txBody>
      </p:sp>
      <p:sp>
        <p:nvSpPr>
          <p:cNvPr id="13" name="Text 11"/>
          <p:cNvSpPr/>
          <p:nvPr/>
        </p:nvSpPr>
        <p:spPr>
          <a:xfrm>
            <a:off x="1572768" y="3163824"/>
            <a:ext cx="9601200" cy="457200"/>
          </a:xfrm>
          <a:prstGeom prst="rect">
            <a:avLst/>
          </a:prstGeom>
          <a:noFill/>
          <a:ln/>
        </p:spPr>
        <p:txBody>
          <a:bodyPr wrap="square" lIns="0" tIns="0" rIns="0" bIns="0" rtlCol="0" anchor="ctr"/>
          <a:lstStyle/>
          <a:p>
            <a:pPr indent="0" marL="0">
              <a:lnSpc>
                <a:spcPts val="1800"/>
              </a:lnSpc>
              <a:buNone/>
            </a:pPr>
            <a:r>
              <a:rPr lang="en-US" sz="1250" dirty="0">
                <a:solidFill>
                  <a:srgbClr val="B8CCC0"/>
                </a:solidFill>
                <a:latin typeface="Calibri" pitchFamily="34" charset="0"/>
                <a:ea typeface="Calibri" pitchFamily="34" charset="-122"/>
                <a:cs typeface="Calibri" pitchFamily="34" charset="-120"/>
              </a:rPr>
              <a:t>It wins about 57% instead of 52.4%. Over ~80 bets a season, luck easily swamps that gap in any single year.</a:t>
            </a:r>
            <a:endParaRPr lang="en-US" sz="1250" dirty="0"/>
          </a:p>
        </p:txBody>
      </p:sp>
      <p:sp>
        <p:nvSpPr>
          <p:cNvPr id="14" name="Shape 12"/>
          <p:cNvSpPr/>
          <p:nvPr/>
        </p:nvSpPr>
        <p:spPr>
          <a:xfrm>
            <a:off x="640080" y="3840480"/>
            <a:ext cx="10881360" cy="987552"/>
          </a:xfrm>
          <a:prstGeom prst="roundRect">
            <a:avLst>
              <a:gd name="adj" fmla="val 9259"/>
            </a:avLst>
          </a:prstGeom>
          <a:solidFill>
            <a:srgbClr val="24483A"/>
          </a:solidFill>
          <a:ln w="12700">
            <a:solidFill>
              <a:srgbClr val="24483A"/>
            </a:solidFill>
            <a:prstDash val="solid"/>
          </a:ln>
        </p:spPr>
      </p:sp>
      <p:sp>
        <p:nvSpPr>
          <p:cNvPr id="15" name="Shape 13"/>
          <p:cNvSpPr/>
          <p:nvPr/>
        </p:nvSpPr>
        <p:spPr>
          <a:xfrm>
            <a:off x="932688" y="4096512"/>
            <a:ext cx="457200" cy="457200"/>
          </a:xfrm>
          <a:prstGeom prst="ellipse">
            <a:avLst/>
          </a:prstGeom>
          <a:solidFill>
            <a:srgbClr val="A33A2E"/>
          </a:solidFill>
          <a:ln w="12700">
            <a:solidFill>
              <a:srgbClr val="A33A2E"/>
            </a:solidFill>
            <a:prstDash val="solid"/>
          </a:ln>
        </p:spPr>
      </p:sp>
      <p:sp>
        <p:nvSpPr>
          <p:cNvPr id="16" name="Text 14"/>
          <p:cNvSpPr/>
          <p:nvPr/>
        </p:nvSpPr>
        <p:spPr>
          <a:xfrm>
            <a:off x="932688" y="4096512"/>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Bookman Old Style" pitchFamily="34" charset="0"/>
                <a:ea typeface="Bookman Old Style" pitchFamily="34" charset="-122"/>
                <a:cs typeface="Bookman Old Style" pitchFamily="34" charset="-120"/>
              </a:rPr>
              <a:t>!</a:t>
            </a:r>
            <a:endParaRPr lang="en-US" sz="1500" dirty="0"/>
          </a:p>
        </p:txBody>
      </p:sp>
      <p:sp>
        <p:nvSpPr>
          <p:cNvPr id="17" name="Text 15"/>
          <p:cNvSpPr/>
          <p:nvPr/>
        </p:nvSpPr>
        <p:spPr>
          <a:xfrm>
            <a:off x="1572768" y="3986784"/>
            <a:ext cx="9601200" cy="310896"/>
          </a:xfrm>
          <a:prstGeom prst="rect">
            <a:avLst/>
          </a:prstGeom>
          <a:noFill/>
          <a:ln/>
        </p:spPr>
        <p:txBody>
          <a:bodyPr wrap="square" lIns="0" tIns="0" rIns="0" bIns="0" rtlCol="0" anchor="ctr"/>
          <a:lstStyle/>
          <a:p>
            <a:pPr indent="0" marL="0">
              <a:buNone/>
            </a:pPr>
            <a:r>
              <a:rPr lang="en-US" sz="1500" b="1" dirty="0">
                <a:solidFill>
                  <a:srgbClr val="D4A537"/>
                </a:solidFill>
                <a:latin typeface="Calibri" pitchFamily="34" charset="0"/>
                <a:ea typeface="Calibri" pitchFamily="34" charset="-122"/>
                <a:cs typeface="Calibri" pitchFamily="34" charset="-120"/>
              </a:rPr>
              <a:t>It may stop working</a:t>
            </a:r>
            <a:endParaRPr lang="en-US" sz="1500" dirty="0"/>
          </a:p>
        </p:txBody>
      </p:sp>
      <p:sp>
        <p:nvSpPr>
          <p:cNvPr id="18" name="Text 16"/>
          <p:cNvSpPr/>
          <p:nvPr/>
        </p:nvSpPr>
        <p:spPr>
          <a:xfrm>
            <a:off x="1572768" y="4297680"/>
            <a:ext cx="9601200" cy="457200"/>
          </a:xfrm>
          <a:prstGeom prst="rect">
            <a:avLst/>
          </a:prstGeom>
          <a:noFill/>
          <a:ln/>
        </p:spPr>
        <p:txBody>
          <a:bodyPr wrap="square" lIns="0" tIns="0" rIns="0" bIns="0" rtlCol="0" anchor="ctr"/>
          <a:lstStyle/>
          <a:p>
            <a:pPr indent="0" marL="0">
              <a:lnSpc>
                <a:spcPts val="1800"/>
              </a:lnSpc>
              <a:buNone/>
            </a:pPr>
            <a:r>
              <a:rPr lang="en-US" sz="1250" dirty="0">
                <a:solidFill>
                  <a:srgbClr val="B8CCC0"/>
                </a:solidFill>
                <a:latin typeface="Calibri" pitchFamily="34" charset="0"/>
                <a:ea typeface="Calibri" pitchFamily="34" charset="-122"/>
                <a:cs typeface="Calibri" pitchFamily="34" charset="-120"/>
              </a:rPr>
              <a:t>This comes from a public research paper. Sportsbooks read those too. If they adjust these numbers, the edge quietly disappears.</a:t>
            </a:r>
            <a:endParaRPr lang="en-US" sz="1250" dirty="0"/>
          </a:p>
        </p:txBody>
      </p:sp>
      <p:sp>
        <p:nvSpPr>
          <p:cNvPr id="19" name="Shape 17"/>
          <p:cNvSpPr/>
          <p:nvPr/>
        </p:nvSpPr>
        <p:spPr>
          <a:xfrm>
            <a:off x="640080" y="4974336"/>
            <a:ext cx="10881360" cy="987552"/>
          </a:xfrm>
          <a:prstGeom prst="roundRect">
            <a:avLst>
              <a:gd name="adj" fmla="val 9259"/>
            </a:avLst>
          </a:prstGeom>
          <a:solidFill>
            <a:srgbClr val="24483A"/>
          </a:solidFill>
          <a:ln w="12700">
            <a:solidFill>
              <a:srgbClr val="24483A"/>
            </a:solidFill>
            <a:prstDash val="solid"/>
          </a:ln>
        </p:spPr>
      </p:sp>
      <p:sp>
        <p:nvSpPr>
          <p:cNvPr id="20" name="Shape 18"/>
          <p:cNvSpPr/>
          <p:nvPr/>
        </p:nvSpPr>
        <p:spPr>
          <a:xfrm>
            <a:off x="932688" y="5230368"/>
            <a:ext cx="457200" cy="457200"/>
          </a:xfrm>
          <a:prstGeom prst="ellipse">
            <a:avLst/>
          </a:prstGeom>
          <a:solidFill>
            <a:srgbClr val="A33A2E"/>
          </a:solidFill>
          <a:ln w="12700">
            <a:solidFill>
              <a:srgbClr val="A33A2E"/>
            </a:solidFill>
            <a:prstDash val="solid"/>
          </a:ln>
        </p:spPr>
      </p:sp>
      <p:sp>
        <p:nvSpPr>
          <p:cNvPr id="21" name="Text 19"/>
          <p:cNvSpPr/>
          <p:nvPr/>
        </p:nvSpPr>
        <p:spPr>
          <a:xfrm>
            <a:off x="932688" y="523036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Bookman Old Style" pitchFamily="34" charset="0"/>
                <a:ea typeface="Bookman Old Style" pitchFamily="34" charset="-122"/>
                <a:cs typeface="Bookman Old Style" pitchFamily="34" charset="-120"/>
              </a:rPr>
              <a:t>!</a:t>
            </a:r>
            <a:endParaRPr lang="en-US" sz="1500" dirty="0"/>
          </a:p>
        </p:txBody>
      </p:sp>
      <p:sp>
        <p:nvSpPr>
          <p:cNvPr id="22" name="Text 20"/>
          <p:cNvSpPr/>
          <p:nvPr/>
        </p:nvSpPr>
        <p:spPr>
          <a:xfrm>
            <a:off x="1572768" y="5120640"/>
            <a:ext cx="9601200" cy="310896"/>
          </a:xfrm>
          <a:prstGeom prst="rect">
            <a:avLst/>
          </a:prstGeom>
          <a:noFill/>
          <a:ln/>
        </p:spPr>
        <p:txBody>
          <a:bodyPr wrap="square" lIns="0" tIns="0" rIns="0" bIns="0" rtlCol="0" anchor="ctr"/>
          <a:lstStyle/>
          <a:p>
            <a:pPr indent="0" marL="0">
              <a:buNone/>
            </a:pPr>
            <a:r>
              <a:rPr lang="en-US" sz="1500" b="1" dirty="0">
                <a:solidFill>
                  <a:srgbClr val="D4A537"/>
                </a:solidFill>
                <a:latin typeface="Calibri" pitchFamily="34" charset="0"/>
                <a:ea typeface="Calibri" pitchFamily="34" charset="-122"/>
                <a:cs typeface="Calibri" pitchFamily="34" charset="-120"/>
              </a:rPr>
              <a:t>It cannot absorb much money</a:t>
            </a:r>
            <a:endParaRPr lang="en-US" sz="1500" dirty="0"/>
          </a:p>
        </p:txBody>
      </p:sp>
      <p:sp>
        <p:nvSpPr>
          <p:cNvPr id="23" name="Text 21"/>
          <p:cNvSpPr/>
          <p:nvPr/>
        </p:nvSpPr>
        <p:spPr>
          <a:xfrm>
            <a:off x="1572768" y="5431536"/>
            <a:ext cx="9601200" cy="457200"/>
          </a:xfrm>
          <a:prstGeom prst="rect">
            <a:avLst/>
          </a:prstGeom>
          <a:noFill/>
          <a:ln/>
        </p:spPr>
        <p:txBody>
          <a:bodyPr wrap="square" lIns="0" tIns="0" rIns="0" bIns="0" rtlCol="0" anchor="ctr"/>
          <a:lstStyle/>
          <a:p>
            <a:pPr indent="0" marL="0">
              <a:lnSpc>
                <a:spcPts val="1800"/>
              </a:lnSpc>
              <a:buNone/>
            </a:pPr>
            <a:r>
              <a:rPr lang="en-US" sz="1250" dirty="0">
                <a:solidFill>
                  <a:srgbClr val="B8CCC0"/>
                </a:solidFill>
                <a:latin typeface="Calibri" pitchFamily="34" charset="0"/>
                <a:ea typeface="Calibri" pitchFamily="34" charset="-122"/>
                <a:cs typeface="Calibri" pitchFamily="34" charset="-120"/>
              </a:rPr>
              <a:t>Qualifying games are obscure and lightly bet. Wager enough and you move the line yourself, erasing your own edge.</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640080" y="457200"/>
            <a:ext cx="10881360" cy="274320"/>
          </a:xfrm>
          <a:prstGeom prst="rect">
            <a:avLst/>
          </a:prstGeom>
          <a:noFill/>
          <a:ln/>
        </p:spPr>
        <p:txBody>
          <a:bodyPr wrap="square" lIns="0" tIns="0" rIns="0" bIns="0" rtlCol="0" anchor="ctr"/>
          <a:lstStyle/>
          <a:p>
            <a:pPr indent="0" marL="0">
              <a:buNone/>
            </a:pPr>
            <a:r>
              <a:rPr lang="en-US" sz="1200" b="1" spc="200" kern="0" dirty="0">
                <a:solidFill>
                  <a:srgbClr val="2C5F4A"/>
                </a:solidFill>
                <a:latin typeface="Calibri" pitchFamily="34" charset="0"/>
                <a:ea typeface="Calibri" pitchFamily="34" charset="-122"/>
                <a:cs typeface="Calibri" pitchFamily="34" charset="-120"/>
              </a:rPr>
              <a:t>BEING HONEST</a:t>
            </a:r>
            <a:endParaRPr lang="en-US" sz="1200" dirty="0"/>
          </a:p>
        </p:txBody>
      </p:sp>
      <p:sp>
        <p:nvSpPr>
          <p:cNvPr id="3" name="Text 1"/>
          <p:cNvSpPr/>
          <p:nvPr/>
        </p:nvSpPr>
        <p:spPr>
          <a:xfrm>
            <a:off x="640080" y="768096"/>
            <a:ext cx="10881360" cy="731520"/>
          </a:xfrm>
          <a:prstGeom prst="rect">
            <a:avLst/>
          </a:prstGeom>
          <a:noFill/>
          <a:ln/>
        </p:spPr>
        <p:txBody>
          <a:bodyPr wrap="square" lIns="0" tIns="0" rIns="0" bIns="0" rtlCol="0" anchor="ctr"/>
          <a:lstStyle/>
          <a:p>
            <a:pPr indent="0" marL="0">
              <a:buNone/>
            </a:pPr>
            <a:r>
              <a:rPr lang="en-US" sz="3400" b="1" dirty="0">
                <a:solidFill>
                  <a:srgbClr val="1B3A2F"/>
                </a:solidFill>
                <a:latin typeface="Bookman Old Style" pitchFamily="34" charset="0"/>
                <a:ea typeface="Bookman Old Style" pitchFamily="34" charset="-122"/>
                <a:cs typeface="Bookman Old Style" pitchFamily="34" charset="-120"/>
              </a:rPr>
              <a:t>How confident should you be?</a:t>
            </a:r>
            <a:endParaRPr lang="en-US" sz="3400" dirty="0"/>
          </a:p>
        </p:txBody>
      </p:sp>
      <p:sp>
        <p:nvSpPr>
          <p:cNvPr id="4" name="Text 2"/>
          <p:cNvSpPr/>
          <p:nvPr/>
        </p:nvSpPr>
        <p:spPr>
          <a:xfrm>
            <a:off x="640080" y="1481328"/>
            <a:ext cx="10881360" cy="365760"/>
          </a:xfrm>
          <a:prstGeom prst="rect">
            <a:avLst/>
          </a:prstGeom>
          <a:noFill/>
          <a:ln/>
        </p:spPr>
        <p:txBody>
          <a:bodyPr wrap="square" lIns="0" tIns="0" rIns="0" bIns="0" rtlCol="0" anchor="ctr"/>
          <a:lstStyle/>
          <a:p>
            <a:pPr indent="0" marL="0">
              <a:buNone/>
            </a:pPr>
            <a:r>
              <a:rPr lang="en-US" sz="1600" dirty="0">
                <a:solidFill>
                  <a:srgbClr val="1A1A18"/>
                </a:solidFill>
                <a:latin typeface="Calibri" pitchFamily="34" charset="0"/>
                <a:ea typeface="Calibri" pitchFamily="34" charset="-122"/>
                <a:cs typeface="Calibri" pitchFamily="34" charset="-120"/>
              </a:rPr>
              <a:t>Two different claims here, and they are not equally strong.</a:t>
            </a:r>
            <a:endParaRPr lang="en-US" sz="1600" dirty="0"/>
          </a:p>
        </p:txBody>
      </p:sp>
      <p:sp>
        <p:nvSpPr>
          <p:cNvPr id="5" name="Shape 3"/>
          <p:cNvSpPr/>
          <p:nvPr/>
        </p:nvSpPr>
        <p:spPr>
          <a:xfrm>
            <a:off x="640080" y="2011680"/>
            <a:ext cx="5257800" cy="2788920"/>
          </a:xfrm>
          <a:prstGeom prst="roundRect">
            <a:avLst>
              <a:gd name="adj" fmla="val 3934"/>
            </a:avLst>
          </a:prstGeom>
          <a:solidFill>
            <a:srgbClr val="E8EFE9"/>
          </a:solidFill>
          <a:ln w="19050">
            <a:solidFill>
              <a:srgbClr val="9FBFA9"/>
            </a:solidFill>
            <a:prstDash val="solid"/>
          </a:ln>
        </p:spPr>
      </p:sp>
      <p:sp>
        <p:nvSpPr>
          <p:cNvPr id="6" name="Text 4"/>
          <p:cNvSpPr/>
          <p:nvPr/>
        </p:nvSpPr>
        <p:spPr>
          <a:xfrm>
            <a:off x="960120" y="2240280"/>
            <a:ext cx="4617720" cy="274320"/>
          </a:xfrm>
          <a:prstGeom prst="rect">
            <a:avLst/>
          </a:prstGeom>
          <a:noFill/>
          <a:ln/>
        </p:spPr>
        <p:txBody>
          <a:bodyPr wrap="square" lIns="0" tIns="0" rIns="0" bIns="0" rtlCol="0" anchor="ctr"/>
          <a:lstStyle/>
          <a:p>
            <a:pPr indent="0" marL="0">
              <a:buNone/>
            </a:pPr>
            <a:r>
              <a:rPr lang="en-US" sz="1150" b="1" spc="200" kern="0" dirty="0">
                <a:solidFill>
                  <a:srgbClr val="2C5F4A"/>
                </a:solidFill>
                <a:latin typeface="Calibri" pitchFamily="34" charset="0"/>
                <a:ea typeface="Calibri" pitchFamily="34" charset="-122"/>
                <a:cs typeface="Calibri" pitchFamily="34" charset="-120"/>
              </a:rPr>
              <a:t>VERY STRONG</a:t>
            </a:r>
            <a:endParaRPr lang="en-US" sz="1150" dirty="0"/>
          </a:p>
        </p:txBody>
      </p:sp>
      <p:sp>
        <p:nvSpPr>
          <p:cNvPr id="7" name="Text 5"/>
          <p:cNvSpPr/>
          <p:nvPr/>
        </p:nvSpPr>
        <p:spPr>
          <a:xfrm>
            <a:off x="960120" y="2560320"/>
            <a:ext cx="4617720" cy="685800"/>
          </a:xfrm>
          <a:prstGeom prst="rect">
            <a:avLst/>
          </a:prstGeom>
          <a:noFill/>
          <a:ln/>
        </p:spPr>
        <p:txBody>
          <a:bodyPr wrap="square" lIns="0" tIns="0" rIns="0" bIns="0" rtlCol="0" anchor="ctr"/>
          <a:lstStyle/>
          <a:p>
            <a:pPr indent="0" marL="0">
              <a:lnSpc>
                <a:spcPts val="2700"/>
              </a:lnSpc>
              <a:buNone/>
            </a:pPr>
            <a:r>
              <a:rPr lang="en-US" sz="2000" b="1" dirty="0">
                <a:solidFill>
                  <a:srgbClr val="1B3A2F"/>
                </a:solidFill>
                <a:latin typeface="Bookman Old Style" pitchFamily="34" charset="0"/>
                <a:ea typeface="Bookman Old Style" pitchFamily="34" charset="-122"/>
                <a:cs typeface="Bookman Old Style" pitchFamily="34" charset="-120"/>
              </a:rPr>
              <a:t>The lines really do ignore the floor.</a:t>
            </a:r>
            <a:endParaRPr lang="en-US" sz="2000" dirty="0"/>
          </a:p>
        </p:txBody>
      </p:sp>
      <p:sp>
        <p:nvSpPr>
          <p:cNvPr id="8" name="Text 6"/>
          <p:cNvSpPr/>
          <p:nvPr/>
        </p:nvSpPr>
        <p:spPr>
          <a:xfrm>
            <a:off x="960120" y="3364992"/>
            <a:ext cx="4617720" cy="1280160"/>
          </a:xfrm>
          <a:prstGeom prst="rect">
            <a:avLst/>
          </a:prstGeom>
          <a:noFill/>
          <a:ln/>
        </p:spPr>
        <p:txBody>
          <a:bodyPr wrap="square" lIns="0" tIns="0" rIns="0" bIns="0" rtlCol="0" anchor="ctr"/>
          <a:lstStyle/>
          <a:p>
            <a:pPr indent="0" marL="0">
              <a:lnSpc>
                <a:spcPts val="1900"/>
              </a:lnSpc>
              <a:buNone/>
            </a:pPr>
            <a:r>
              <a:rPr lang="en-US" sz="1250" dirty="0">
                <a:solidFill>
                  <a:srgbClr val="1A1A18"/>
                </a:solidFill>
                <a:latin typeface="Calibri" pitchFamily="34" charset="0"/>
                <a:ea typeface="Calibri" pitchFamily="34" charset="-122"/>
                <a:cs typeface="Calibri" pitchFamily="34" charset="-120"/>
              </a:rPr>
              <a:t>That the sportsbook's number is mispriced in these games is about as clear as this kind of data gets. It replicates in a separate era of games, survives every robustness check we ran, and shows no sign of fading through 2025.</a:t>
            </a:r>
            <a:endParaRPr lang="en-US" sz="1250" dirty="0"/>
          </a:p>
        </p:txBody>
      </p:sp>
      <p:sp>
        <p:nvSpPr>
          <p:cNvPr id="9" name="Shape 7"/>
          <p:cNvSpPr/>
          <p:nvPr/>
        </p:nvSpPr>
        <p:spPr>
          <a:xfrm>
            <a:off x="6263640" y="2011680"/>
            <a:ext cx="5257800" cy="2788920"/>
          </a:xfrm>
          <a:prstGeom prst="roundRect">
            <a:avLst>
              <a:gd name="adj" fmla="val 3934"/>
            </a:avLst>
          </a:prstGeom>
          <a:solidFill>
            <a:srgbClr val="F5EFE2"/>
          </a:solidFill>
          <a:ln w="19050">
            <a:solidFill>
              <a:srgbClr val="D9C48E"/>
            </a:solidFill>
            <a:prstDash val="solid"/>
          </a:ln>
        </p:spPr>
      </p:sp>
      <p:sp>
        <p:nvSpPr>
          <p:cNvPr id="10" name="Text 8"/>
          <p:cNvSpPr/>
          <p:nvPr/>
        </p:nvSpPr>
        <p:spPr>
          <a:xfrm>
            <a:off x="6583680" y="2240280"/>
            <a:ext cx="4617720" cy="274320"/>
          </a:xfrm>
          <a:prstGeom prst="rect">
            <a:avLst/>
          </a:prstGeom>
          <a:noFill/>
          <a:ln/>
        </p:spPr>
        <p:txBody>
          <a:bodyPr wrap="square" lIns="0" tIns="0" rIns="0" bIns="0" rtlCol="0" anchor="ctr"/>
          <a:lstStyle/>
          <a:p>
            <a:pPr indent="0" marL="0">
              <a:buNone/>
            </a:pPr>
            <a:r>
              <a:rPr lang="en-US" sz="1150" b="1" spc="200" kern="0" dirty="0">
                <a:solidFill>
                  <a:srgbClr val="8A6D1F"/>
                </a:solidFill>
                <a:latin typeface="Calibri" pitchFamily="34" charset="0"/>
                <a:ea typeface="Calibri" pitchFamily="34" charset="-122"/>
                <a:cs typeface="Calibri" pitchFamily="34" charset="-120"/>
              </a:rPr>
              <a:t>SOLID, BUT THINNER</a:t>
            </a:r>
            <a:endParaRPr lang="en-US" sz="1150" dirty="0"/>
          </a:p>
        </p:txBody>
      </p:sp>
      <p:sp>
        <p:nvSpPr>
          <p:cNvPr id="11" name="Text 9"/>
          <p:cNvSpPr/>
          <p:nvPr/>
        </p:nvSpPr>
        <p:spPr>
          <a:xfrm>
            <a:off x="6583680" y="2560320"/>
            <a:ext cx="4617720" cy="685800"/>
          </a:xfrm>
          <a:prstGeom prst="rect">
            <a:avLst/>
          </a:prstGeom>
          <a:noFill/>
          <a:ln/>
        </p:spPr>
        <p:txBody>
          <a:bodyPr wrap="square" lIns="0" tIns="0" rIns="0" bIns="0" rtlCol="0" anchor="ctr"/>
          <a:lstStyle/>
          <a:p>
            <a:pPr indent="0" marL="0">
              <a:lnSpc>
                <a:spcPts val="2700"/>
              </a:lnSpc>
              <a:buNone/>
            </a:pPr>
            <a:r>
              <a:rPr lang="en-US" sz="2000" b="1" dirty="0">
                <a:solidFill>
                  <a:srgbClr val="6B5417"/>
                </a:solidFill>
                <a:latin typeface="Bookman Old Style" pitchFamily="34" charset="0"/>
                <a:ea typeface="Bookman Old Style" pitchFamily="34" charset="-122"/>
                <a:cs typeface="Bookman Old Style" pitchFamily="34" charset="-120"/>
              </a:rPr>
              <a:t>You'd actually profit from it.</a:t>
            </a:r>
            <a:endParaRPr lang="en-US" sz="2000" dirty="0"/>
          </a:p>
        </p:txBody>
      </p:sp>
      <p:sp>
        <p:nvSpPr>
          <p:cNvPr id="12" name="Text 10"/>
          <p:cNvSpPr/>
          <p:nvPr/>
        </p:nvSpPr>
        <p:spPr>
          <a:xfrm>
            <a:off x="6583680" y="3364992"/>
            <a:ext cx="4617720" cy="1280160"/>
          </a:xfrm>
          <a:prstGeom prst="rect">
            <a:avLst/>
          </a:prstGeom>
          <a:noFill/>
          <a:ln/>
        </p:spPr>
        <p:txBody>
          <a:bodyPr wrap="square" lIns="0" tIns="0" rIns="0" bIns="0" rtlCol="0" anchor="ctr"/>
          <a:lstStyle/>
          <a:p>
            <a:pPr indent="0" marL="0">
              <a:lnSpc>
                <a:spcPts val="1900"/>
              </a:lnSpc>
              <a:buNone/>
            </a:pPr>
            <a:r>
              <a:rPr lang="en-US" sz="1250" dirty="0">
                <a:solidFill>
                  <a:srgbClr val="1A1A18"/>
                </a:solidFill>
                <a:latin typeface="Calibri" pitchFamily="34" charset="0"/>
                <a:ea typeface="Calibri" pitchFamily="34" charset="-122"/>
                <a:cs typeface="Calibri" pitchFamily="34" charset="-120"/>
              </a:rPr>
              <a:t>This rests on 681 real bets. That's enough to be meaningfully better than chance, but not enough to pin down the exact size of the edge. The true long-run number could be noticeably better or worse than 57%.</a:t>
            </a:r>
            <a:endParaRPr lang="en-US" sz="1250" dirty="0"/>
          </a:p>
        </p:txBody>
      </p:sp>
      <p:sp>
        <p:nvSpPr>
          <p:cNvPr id="13" name="Shape 11"/>
          <p:cNvSpPr/>
          <p:nvPr/>
        </p:nvSpPr>
        <p:spPr>
          <a:xfrm>
            <a:off x="640080" y="5029200"/>
            <a:ext cx="10881360" cy="960120"/>
          </a:xfrm>
          <a:prstGeom prst="roundRect">
            <a:avLst>
              <a:gd name="adj" fmla="val 9524"/>
            </a:avLst>
          </a:prstGeom>
          <a:solidFill>
            <a:srgbClr val="FFFFFF"/>
          </a:solidFill>
          <a:ln w="12700">
            <a:solidFill>
              <a:srgbClr val="E2DFD5"/>
            </a:solidFill>
            <a:prstDash val="solid"/>
          </a:ln>
        </p:spPr>
      </p:sp>
      <p:sp>
        <p:nvSpPr>
          <p:cNvPr id="14" name="Text 12"/>
          <p:cNvSpPr/>
          <p:nvPr/>
        </p:nvSpPr>
        <p:spPr>
          <a:xfrm>
            <a:off x="960120" y="5138928"/>
            <a:ext cx="10241280" cy="731520"/>
          </a:xfrm>
          <a:prstGeom prst="rect">
            <a:avLst/>
          </a:prstGeom>
          <a:noFill/>
          <a:ln/>
        </p:spPr>
        <p:txBody>
          <a:bodyPr wrap="square" lIns="0" tIns="0" rIns="0" bIns="0" rtlCol="0" anchor="ctr"/>
          <a:lstStyle/>
          <a:p>
            <a:pPr indent="0" marL="0">
              <a:lnSpc>
                <a:spcPts val="2100"/>
              </a:lnSpc>
              <a:buNone/>
            </a:pPr>
            <a:r>
              <a:rPr lang="en-US" sz="1400" b="1" dirty="0">
                <a:solidFill>
                  <a:srgbClr val="1B3A2F"/>
                </a:solidFill>
                <a:latin typeface="Calibri" pitchFamily="34" charset="0"/>
                <a:ea typeface="Calibri" pitchFamily="34" charset="-122"/>
                <a:cs typeface="Calibri" pitchFamily="34" charset="-120"/>
              </a:rPr>
              <a:t>In plain terms:  </a:t>
            </a:r>
            <a:pPr indent="0" marL="0">
              <a:lnSpc>
                <a:spcPts val="2100"/>
              </a:lnSpc>
              <a:buNone/>
            </a:pPr>
            <a:r>
              <a:rPr lang="en-US" sz="1400" dirty="0">
                <a:solidFill>
                  <a:srgbClr val="1A1A18"/>
                </a:solidFill>
                <a:latin typeface="Calibri" pitchFamily="34" charset="0"/>
                <a:ea typeface="Calibri" pitchFamily="34" charset="-122"/>
                <a:cs typeface="Calibri" pitchFamily="34" charset="-120"/>
              </a:rPr>
              <a:t>we're confident the mistake exists. We're reasonably confident you can make money on it — and we'd want more seasons before saying exactly how much.</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B3A2F"/>
        </a:solidFill>
      </p:bgPr>
    </p:bg>
    <p:spTree>
      <p:nvGrpSpPr>
        <p:cNvPr id="1" name=""/>
        <p:cNvGrpSpPr/>
        <p:nvPr/>
      </p:nvGrpSpPr>
      <p:grpSpPr>
        <a:xfrm>
          <a:off x="0" y="0"/>
          <a:ext cx="0" cy="0"/>
          <a:chOff x="0" y="0"/>
          <a:chExt cx="0" cy="0"/>
        </a:xfrm>
      </p:grpSpPr>
      <p:sp>
        <p:nvSpPr>
          <p:cNvPr id="2" name="Text 0"/>
          <p:cNvSpPr/>
          <p:nvPr/>
        </p:nvSpPr>
        <p:spPr>
          <a:xfrm>
            <a:off x="822960" y="777240"/>
            <a:ext cx="10515600" cy="320040"/>
          </a:xfrm>
          <a:prstGeom prst="rect">
            <a:avLst/>
          </a:prstGeom>
          <a:noFill/>
          <a:ln/>
        </p:spPr>
        <p:txBody>
          <a:bodyPr wrap="square" lIns="0" tIns="0" rIns="0" bIns="0" rtlCol="0" anchor="ctr"/>
          <a:lstStyle/>
          <a:p>
            <a:pPr indent="0" marL="0">
              <a:buNone/>
            </a:pPr>
            <a:r>
              <a:rPr lang="en-US" sz="1300" b="1" spc="300" kern="0" dirty="0">
                <a:solidFill>
                  <a:srgbClr val="D4A537"/>
                </a:solidFill>
                <a:latin typeface="Calibri" pitchFamily="34" charset="0"/>
                <a:ea typeface="Calibri" pitchFamily="34" charset="-122"/>
                <a:cs typeface="Calibri" pitchFamily="34" charset="-120"/>
              </a:rPr>
              <a:t>WHAT TO TAKE AWAY</a:t>
            </a:r>
            <a:endParaRPr lang="en-US" sz="1300" dirty="0"/>
          </a:p>
        </p:txBody>
      </p:sp>
      <p:sp>
        <p:nvSpPr>
          <p:cNvPr id="3" name="Shape 1"/>
          <p:cNvSpPr/>
          <p:nvPr/>
        </p:nvSpPr>
        <p:spPr>
          <a:xfrm>
            <a:off x="822960" y="1490472"/>
            <a:ext cx="530352" cy="530352"/>
          </a:xfrm>
          <a:prstGeom prst="ellipse">
            <a:avLst/>
          </a:prstGeom>
          <a:solidFill>
            <a:srgbClr val="D4A537"/>
          </a:solidFill>
          <a:ln w="12700">
            <a:solidFill>
              <a:srgbClr val="D4A537"/>
            </a:solidFill>
            <a:prstDash val="solid"/>
          </a:ln>
        </p:spPr>
      </p:sp>
      <p:sp>
        <p:nvSpPr>
          <p:cNvPr id="4" name="Text 2"/>
          <p:cNvSpPr/>
          <p:nvPr/>
        </p:nvSpPr>
        <p:spPr>
          <a:xfrm>
            <a:off x="822960" y="1490472"/>
            <a:ext cx="530352" cy="530352"/>
          </a:xfrm>
          <a:prstGeom prst="rect">
            <a:avLst/>
          </a:prstGeom>
          <a:noFill/>
          <a:ln/>
        </p:spPr>
        <p:txBody>
          <a:bodyPr wrap="square" lIns="0" tIns="0" rIns="0" bIns="0" rtlCol="0" anchor="ctr"/>
          <a:lstStyle/>
          <a:p>
            <a:pPr algn="ctr" indent="0" marL="0">
              <a:buNone/>
            </a:pPr>
            <a:r>
              <a:rPr lang="en-US" sz="1600" b="1" dirty="0">
                <a:solidFill>
                  <a:srgbClr val="1B3A2F"/>
                </a:solidFill>
                <a:latin typeface="Bookman Old Style" pitchFamily="34" charset="0"/>
                <a:ea typeface="Bookman Old Style" pitchFamily="34" charset="-122"/>
                <a:cs typeface="Bookman Old Style" pitchFamily="34" charset="-120"/>
              </a:rPr>
              <a:t>1</a:t>
            </a:r>
            <a:endParaRPr lang="en-US" sz="1600" dirty="0"/>
          </a:p>
        </p:txBody>
      </p:sp>
      <p:sp>
        <p:nvSpPr>
          <p:cNvPr id="5" name="Text 3"/>
          <p:cNvSpPr/>
          <p:nvPr/>
        </p:nvSpPr>
        <p:spPr>
          <a:xfrm>
            <a:off x="1600200" y="1417320"/>
            <a:ext cx="9784080" cy="822960"/>
          </a:xfrm>
          <a:prstGeom prst="rect">
            <a:avLst/>
          </a:prstGeom>
          <a:noFill/>
          <a:ln/>
        </p:spPr>
        <p:txBody>
          <a:bodyPr wrap="square" lIns="0" tIns="0" rIns="0" bIns="0" rtlCol="0" anchor="ctr"/>
          <a:lstStyle/>
          <a:p>
            <a:pPr indent="0" marL="0">
              <a:lnSpc>
                <a:spcPts val="2500"/>
              </a:lnSpc>
              <a:buNone/>
            </a:pPr>
            <a:r>
              <a:rPr lang="en-US" sz="1600" dirty="0">
                <a:solidFill>
                  <a:srgbClr val="FFFFFF"/>
                </a:solidFill>
                <a:latin typeface="Calibri" pitchFamily="34" charset="0"/>
                <a:ea typeface="Calibri" pitchFamily="34" charset="-122"/>
                <a:cs typeface="Calibri" pitchFamily="34" charset="-120"/>
              </a:rPr>
              <a:t>Scores can't go below zero, so lopsided low-scoring games quietly run a little higher than the posted number.</a:t>
            </a:r>
            <a:endParaRPr lang="en-US" sz="1600" dirty="0"/>
          </a:p>
        </p:txBody>
      </p:sp>
      <p:sp>
        <p:nvSpPr>
          <p:cNvPr id="6" name="Shape 4"/>
          <p:cNvSpPr/>
          <p:nvPr/>
        </p:nvSpPr>
        <p:spPr>
          <a:xfrm>
            <a:off x="822960" y="2542032"/>
            <a:ext cx="530352" cy="530352"/>
          </a:xfrm>
          <a:prstGeom prst="ellipse">
            <a:avLst/>
          </a:prstGeom>
          <a:solidFill>
            <a:srgbClr val="D4A537"/>
          </a:solidFill>
          <a:ln w="12700">
            <a:solidFill>
              <a:srgbClr val="D4A537"/>
            </a:solidFill>
            <a:prstDash val="solid"/>
          </a:ln>
        </p:spPr>
      </p:sp>
      <p:sp>
        <p:nvSpPr>
          <p:cNvPr id="7" name="Text 5"/>
          <p:cNvSpPr/>
          <p:nvPr/>
        </p:nvSpPr>
        <p:spPr>
          <a:xfrm>
            <a:off x="822960" y="2542032"/>
            <a:ext cx="530352" cy="530352"/>
          </a:xfrm>
          <a:prstGeom prst="rect">
            <a:avLst/>
          </a:prstGeom>
          <a:noFill/>
          <a:ln/>
        </p:spPr>
        <p:txBody>
          <a:bodyPr wrap="square" lIns="0" tIns="0" rIns="0" bIns="0" rtlCol="0" anchor="ctr"/>
          <a:lstStyle/>
          <a:p>
            <a:pPr algn="ctr" indent="0" marL="0">
              <a:buNone/>
            </a:pPr>
            <a:r>
              <a:rPr lang="en-US" sz="1600" b="1" dirty="0">
                <a:solidFill>
                  <a:srgbClr val="1B3A2F"/>
                </a:solidFill>
                <a:latin typeface="Bookman Old Style" pitchFamily="34" charset="0"/>
                <a:ea typeface="Bookman Old Style" pitchFamily="34" charset="-122"/>
                <a:cs typeface="Bookman Old Style" pitchFamily="34" charset="-120"/>
              </a:rPr>
              <a:t>2</a:t>
            </a:r>
            <a:endParaRPr lang="en-US" sz="1600" dirty="0"/>
          </a:p>
        </p:txBody>
      </p:sp>
      <p:sp>
        <p:nvSpPr>
          <p:cNvPr id="8" name="Text 6"/>
          <p:cNvSpPr/>
          <p:nvPr/>
        </p:nvSpPr>
        <p:spPr>
          <a:xfrm>
            <a:off x="1600200" y="2468880"/>
            <a:ext cx="9784080" cy="822960"/>
          </a:xfrm>
          <a:prstGeom prst="rect">
            <a:avLst/>
          </a:prstGeom>
          <a:noFill/>
          <a:ln/>
        </p:spPr>
        <p:txBody>
          <a:bodyPr wrap="square" lIns="0" tIns="0" rIns="0" bIns="0" rtlCol="0" anchor="ctr"/>
          <a:lstStyle/>
          <a:p>
            <a:pPr indent="0" marL="0">
              <a:lnSpc>
                <a:spcPts val="2500"/>
              </a:lnSpc>
              <a:buNone/>
            </a:pPr>
            <a:r>
              <a:rPr lang="en-US" sz="1600" dirty="0">
                <a:solidFill>
                  <a:srgbClr val="FFFFFF"/>
                </a:solidFill>
                <a:latin typeface="Calibri" pitchFamily="34" charset="0"/>
                <a:ea typeface="Calibri" pitchFamily="34" charset="-122"/>
                <a:cs typeface="Calibri" pitchFamily="34" charset="-120"/>
              </a:rPr>
              <a:t>Betting the over in exactly those games won about 57% of the time over ten seasons of blind testing — against a 52.4% breakeven.</a:t>
            </a:r>
            <a:endParaRPr lang="en-US" sz="1600" dirty="0"/>
          </a:p>
        </p:txBody>
      </p:sp>
      <p:sp>
        <p:nvSpPr>
          <p:cNvPr id="9" name="Shape 7"/>
          <p:cNvSpPr/>
          <p:nvPr/>
        </p:nvSpPr>
        <p:spPr>
          <a:xfrm>
            <a:off x="822960" y="3593592"/>
            <a:ext cx="530352" cy="530352"/>
          </a:xfrm>
          <a:prstGeom prst="ellipse">
            <a:avLst/>
          </a:prstGeom>
          <a:solidFill>
            <a:srgbClr val="D4A537"/>
          </a:solidFill>
          <a:ln w="12700">
            <a:solidFill>
              <a:srgbClr val="D4A537"/>
            </a:solidFill>
            <a:prstDash val="solid"/>
          </a:ln>
        </p:spPr>
      </p:sp>
      <p:sp>
        <p:nvSpPr>
          <p:cNvPr id="10" name="Text 8"/>
          <p:cNvSpPr/>
          <p:nvPr/>
        </p:nvSpPr>
        <p:spPr>
          <a:xfrm>
            <a:off x="822960" y="3593592"/>
            <a:ext cx="530352" cy="530352"/>
          </a:xfrm>
          <a:prstGeom prst="rect">
            <a:avLst/>
          </a:prstGeom>
          <a:noFill/>
          <a:ln/>
        </p:spPr>
        <p:txBody>
          <a:bodyPr wrap="square" lIns="0" tIns="0" rIns="0" bIns="0" rtlCol="0" anchor="ctr"/>
          <a:lstStyle/>
          <a:p>
            <a:pPr algn="ctr" indent="0" marL="0">
              <a:buNone/>
            </a:pPr>
            <a:r>
              <a:rPr lang="en-US" sz="1600" b="1" dirty="0">
                <a:solidFill>
                  <a:srgbClr val="1B3A2F"/>
                </a:solidFill>
                <a:latin typeface="Bookman Old Style" pitchFamily="34" charset="0"/>
                <a:ea typeface="Bookman Old Style" pitchFamily="34" charset="-122"/>
                <a:cs typeface="Bookman Old Style" pitchFamily="34" charset="-120"/>
              </a:rPr>
              <a:t>3</a:t>
            </a:r>
            <a:endParaRPr lang="en-US" sz="1600" dirty="0"/>
          </a:p>
        </p:txBody>
      </p:sp>
      <p:sp>
        <p:nvSpPr>
          <p:cNvPr id="11" name="Text 9"/>
          <p:cNvSpPr/>
          <p:nvPr/>
        </p:nvSpPr>
        <p:spPr>
          <a:xfrm>
            <a:off x="1600200" y="3520440"/>
            <a:ext cx="9784080" cy="822960"/>
          </a:xfrm>
          <a:prstGeom prst="rect">
            <a:avLst/>
          </a:prstGeom>
          <a:noFill/>
          <a:ln/>
        </p:spPr>
        <p:txBody>
          <a:bodyPr wrap="square" lIns="0" tIns="0" rIns="0" bIns="0" rtlCol="0" anchor="ctr"/>
          <a:lstStyle/>
          <a:p>
            <a:pPr indent="0" marL="0">
              <a:lnSpc>
                <a:spcPts val="2500"/>
              </a:lnSpc>
              <a:buNone/>
            </a:pPr>
            <a:r>
              <a:rPr lang="en-US" sz="1600" dirty="0">
                <a:solidFill>
                  <a:srgbClr val="FFFFFF"/>
                </a:solidFill>
                <a:latin typeface="Calibri" pitchFamily="34" charset="0"/>
                <a:ea typeface="Calibri" pitchFamily="34" charset="-122"/>
                <a:cs typeface="Calibri" pitchFamily="34" charset="-120"/>
              </a:rPr>
              <a:t>It's a small, slow, volatile edge on roughly 80 obscure games a year. Not a money printer.</a:t>
            </a:r>
            <a:endParaRPr lang="en-US" sz="1600" dirty="0"/>
          </a:p>
        </p:txBody>
      </p:sp>
      <p:sp>
        <p:nvSpPr>
          <p:cNvPr id="12" name="Shape 10"/>
          <p:cNvSpPr/>
          <p:nvPr/>
        </p:nvSpPr>
        <p:spPr>
          <a:xfrm>
            <a:off x="822960" y="4709160"/>
            <a:ext cx="10515600" cy="1417320"/>
          </a:xfrm>
          <a:prstGeom prst="roundRect">
            <a:avLst>
              <a:gd name="adj" fmla="val 7742"/>
            </a:avLst>
          </a:prstGeom>
          <a:solidFill>
            <a:srgbClr val="24483A"/>
          </a:solidFill>
          <a:ln w="19050">
            <a:solidFill>
              <a:srgbClr val="A33A2E"/>
            </a:solidFill>
            <a:prstDash val="solid"/>
          </a:ln>
        </p:spPr>
      </p:sp>
      <p:sp>
        <p:nvSpPr>
          <p:cNvPr id="13" name="Text 11"/>
          <p:cNvSpPr/>
          <p:nvPr/>
        </p:nvSpPr>
        <p:spPr>
          <a:xfrm>
            <a:off x="1143000" y="4901184"/>
            <a:ext cx="9875520" cy="347472"/>
          </a:xfrm>
          <a:prstGeom prst="rect">
            <a:avLst/>
          </a:prstGeom>
          <a:noFill/>
          <a:ln/>
        </p:spPr>
        <p:txBody>
          <a:bodyPr wrap="square" lIns="0" tIns="0" rIns="0" bIns="0" rtlCol="0" anchor="ctr"/>
          <a:lstStyle/>
          <a:p>
            <a:pPr indent="0" marL="0">
              <a:buNone/>
            </a:pPr>
            <a:r>
              <a:rPr lang="en-US" sz="1700" b="1" dirty="0">
                <a:solidFill>
                  <a:srgbClr val="D4A537"/>
                </a:solidFill>
                <a:latin typeface="Bookman Old Style" pitchFamily="34" charset="0"/>
                <a:ea typeface="Bookman Old Style" pitchFamily="34" charset="-122"/>
                <a:cs typeface="Bookman Old Style" pitchFamily="34" charset="-120"/>
              </a:rPr>
              <a:t>This is research, not financial advice.</a:t>
            </a:r>
            <a:endParaRPr lang="en-US" sz="1700" dirty="0"/>
          </a:p>
        </p:txBody>
      </p:sp>
      <p:sp>
        <p:nvSpPr>
          <p:cNvPr id="14" name="Text 12"/>
          <p:cNvSpPr/>
          <p:nvPr/>
        </p:nvSpPr>
        <p:spPr>
          <a:xfrm>
            <a:off x="1143000" y="5285232"/>
            <a:ext cx="9875520" cy="685800"/>
          </a:xfrm>
          <a:prstGeom prst="rect">
            <a:avLst/>
          </a:prstGeom>
          <a:noFill/>
          <a:ln/>
        </p:spPr>
        <p:txBody>
          <a:bodyPr wrap="square" lIns="0" tIns="0" rIns="0" bIns="0" rtlCol="0" anchor="ctr"/>
          <a:lstStyle/>
          <a:p>
            <a:pPr indent="0" marL="0">
              <a:lnSpc>
                <a:spcPts val="1900"/>
              </a:lnSpc>
              <a:buNone/>
            </a:pPr>
            <a:r>
              <a:rPr lang="en-US" sz="1300" dirty="0">
                <a:solidFill>
                  <a:srgbClr val="B8CCC0"/>
                </a:solidFill>
                <a:latin typeface="Calibri" pitchFamily="34" charset="0"/>
                <a:ea typeface="Calibri" pitchFamily="34" charset="-122"/>
                <a:cs typeface="Calibri" pitchFamily="34" charset="-120"/>
              </a:rPr>
              <a:t>Sports betting loses money for almost everyone who does it. A small edge — if it's real and if it lasts — is grindy and volatile. Bet only what you can afford to lose, and only where it's legal for you to do so.</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Betting the Over: A Scoreboard Has a Floor</dc:title>
  <dc:subject>PptxGenJS Presentation</dc:subject>
  <dc:creator>over-zero</dc:creator>
  <cp:lastModifiedBy>over-zero</cp:lastModifiedBy>
  <cp:revision>1</cp:revision>
  <dcterms:created xsi:type="dcterms:W3CDTF">2026-08-01T10:26:11Z</dcterms:created>
  <dcterms:modified xsi:type="dcterms:W3CDTF">2026-08-01T10:26:11Z</dcterms:modified>
</cp:coreProperties>
</file>